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svg" ContentType="image/svg"/>
  <Override PartName="/ppt/media/image4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TV-ADMM</c:v>
                </c:pt>
              </c:strCache>
            </c:strRef>
          </c:tx>
          <c:spPr>
            <a:solidFill>
              <a:srgbClr val="2471a3"/>
            </a:solidFill>
            <a:ln w="38160">
              <a:solidFill>
                <a:srgbClr val="2471a3"/>
              </a:solidFill>
              <a:round/>
            </a:ln>
          </c:spPr>
          <c:marker>
            <c:symbol val="circle"/>
            <c:size val="6"/>
            <c:spPr>
              <a:solidFill>
                <a:srgbClr val="2471a3"/>
              </a:solidFill>
            </c:spPr>
          </c:marker>
          <c:dLbls>
            <c:txPr>
              <a:bodyPr wrap="square"/>
              <a:lstStyle/>
              <a:p>
                <a:pPr>
                  <a:defRPr b="0" sz="11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leaderLines>
              <c:spPr>
                <a:ln w="3816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σ=0.005</c:v>
                </c:pt>
                <c:pt idx="1">
                  <c:v>σ=0.01</c:v>
                </c:pt>
                <c:pt idx="2">
                  <c:v>σ=0.05</c:v>
                </c:pt>
                <c:pt idx="3">
                  <c:v>σ=0.1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29.78</c:v>
                </c:pt>
                <c:pt idx="1">
                  <c:v>29.42</c:v>
                </c:pt>
                <c:pt idx="2">
                  <c:v>28.07</c:v>
                </c:pt>
                <c:pt idx="3">
                  <c:v>26.56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NAF-Net</c:v>
                </c:pt>
              </c:strCache>
            </c:strRef>
          </c:tx>
          <c:spPr>
            <a:solidFill>
              <a:srgbClr val="1e8449"/>
            </a:solidFill>
            <a:ln w="38160">
              <a:solidFill>
                <a:srgbClr val="1e8449"/>
              </a:solidFill>
              <a:round/>
            </a:ln>
          </c:spPr>
          <c:marker>
            <c:symbol val="circle"/>
            <c:size val="6"/>
            <c:spPr>
              <a:solidFill>
                <a:srgbClr val="1e8449"/>
              </a:solidFill>
            </c:spPr>
          </c:marker>
          <c:dLbls>
            <c:txPr>
              <a:bodyPr wrap="square"/>
              <a:lstStyle/>
              <a:p>
                <a:pPr>
                  <a:defRPr b="0" sz="11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leaderLines>
              <c:spPr>
                <a:ln w="3816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σ=0.005</c:v>
                </c:pt>
                <c:pt idx="1">
                  <c:v>σ=0.01</c:v>
                </c:pt>
                <c:pt idx="2">
                  <c:v>σ=0.05</c:v>
                </c:pt>
                <c:pt idx="3">
                  <c:v>σ=0.1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29.46</c:v>
                </c:pt>
                <c:pt idx="1">
                  <c:v>29.37</c:v>
                </c:pt>
                <c:pt idx="2">
                  <c:v>28.07</c:v>
                </c:pt>
                <c:pt idx="3">
                  <c:v>26.64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DPS</c:v>
                </c:pt>
              </c:strCache>
            </c:strRef>
          </c:tx>
          <c:spPr>
            <a:solidFill>
              <a:srgbClr val="6c3483"/>
            </a:solidFill>
            <a:ln w="38160">
              <a:solidFill>
                <a:srgbClr val="6c3483"/>
              </a:solidFill>
              <a:round/>
            </a:ln>
          </c:spPr>
          <c:marker>
            <c:symbol val="circle"/>
            <c:size val="6"/>
            <c:spPr>
              <a:solidFill>
                <a:srgbClr val="6c3483"/>
              </a:solidFill>
            </c:spPr>
          </c:marker>
          <c:dLbls>
            <c:txPr>
              <a:bodyPr wrap="square"/>
              <a:lstStyle/>
              <a:p>
                <a:pPr>
                  <a:defRPr b="0" sz="11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leaderLines>
              <c:spPr>
                <a:ln w="3816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σ=0.005</c:v>
                </c:pt>
                <c:pt idx="1">
                  <c:v>σ=0.01</c:v>
                </c:pt>
                <c:pt idx="2">
                  <c:v>σ=0.05</c:v>
                </c:pt>
                <c:pt idx="3">
                  <c:v>σ=0.1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25.56</c:v>
                </c:pt>
                <c:pt idx="1">
                  <c:v>24.63</c:v>
                </c:pt>
                <c:pt idx="2">
                  <c:v>24.63</c:v>
                </c:pt>
                <c:pt idx="3">
                  <c:v>24.8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46455593"/>
        <c:axId val="58531158"/>
      </c:lineChart>
      <c:catAx>
        <c:axId val="4645559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58531158"/>
        <c:crosses val="autoZero"/>
        <c:auto val="1"/>
        <c:lblAlgn val="ctr"/>
        <c:lblOffset val="100"/>
        <c:noMultiLvlLbl val="0"/>
      </c:catAx>
      <c:valAx>
        <c:axId val="58531158"/>
        <c:scaling>
          <c:orientation val="minMax"/>
        </c:scaling>
        <c:delete val="0"/>
        <c:axPos val="l"/>
        <c:majorGridlines>
          <c:spPr>
            <a:ln w="6480">
              <a:solidFill>
                <a:srgbClr val="eeeeee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1000" strike="noStrike" u="none">
                    <a:solidFill>
                      <a:srgbClr val="000000"/>
                    </a:solidFill>
                    <a:uFillTx/>
                    <a:latin typeface="Arial"/>
                  </a:rPr>
                  <a:t>PSNR (dB)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46455593"/>
        <c:crosses val="autoZero"/>
        <c:crossBetween val="between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fafafa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it-IT" sz="4400" strike="noStrike" u="non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F8E799F-BE38-41A4-BF7A-C3F0F6B113BC}" type="slidenum">
              <a:rPr b="0" lang="it-IT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it-IT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3EA89A-D0DD-4AA3-BF81-FB8867501CEF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96DAB2-B602-4FCD-95F4-A586CEAC73F5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C54FE5-FD6E-4D28-8D3E-BB6830BDFD2C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5F5CD6-E54C-4192-85D3-2609A02BCE5C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832F7F-6919-427F-9ED0-2E87972EA66A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F23841B-F283-40F4-9076-4FD5B685E6E3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684BD8E-7834-4450-BE4C-2EDE8BDFC11D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63F706-0BEA-4A23-95CB-61BF60A1A8A8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7B01347-204A-4833-AD0C-C69FCBD4C3E1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350F2E-1CD5-4099-BDB4-23EDED20CCA8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F22E31-DBF5-460A-BD4E-CC50466C6484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14B945-6481-4158-B5E4-EC4AC49A2343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it-IT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it-IT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it-IT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it-IT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it-IT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it-IT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0" y="9360"/>
            <a:ext cx="9360000" cy="5210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b22222"/>
                </a:solidFill>
                <a:uFillTx/>
                <a:latin typeface="Calibri"/>
                <a:ea typeface="Calibri"/>
              </a:rPr>
              <a:t>Description of the project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Shape 1"/>
          <p:cNvSpPr/>
          <p:nvPr/>
        </p:nvSpPr>
        <p:spPr>
          <a:xfrm>
            <a:off x="457200" y="840960"/>
            <a:ext cx="8229600" cy="360"/>
          </a:xfrm>
          <a:prstGeom prst="line">
            <a:avLst/>
          </a:prstGeom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8321040" y="448056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57200" y="960120"/>
            <a:ext cx="8228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b22222"/>
                </a:solidFill>
                <a:uFillTx/>
                <a:latin typeface="Calibri"/>
                <a:ea typeface="Calibri"/>
              </a:rPr>
              <a:t>Title:  Joint Image Deblurring and Denoising via TV-ADMM, NAF-Net, and DPS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Text 6"/>
          <p:cNvSpPr/>
          <p:nvPr/>
        </p:nvSpPr>
        <p:spPr>
          <a:xfrm>
            <a:off x="457200" y="1719000"/>
            <a:ext cx="8228880" cy="1489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5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Task: </a:t>
            </a:r>
            <a:r>
              <a:rPr b="0" lang="en-US" sz="15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Deblur and Denoise on FFHQ 256×256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Forward model: </a:t>
            </a:r>
            <a:r>
              <a:rPr b="0" lang="en-US" sz="15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y = A(x) + n   where A = Gaussian blur (σ=2, kernel 9×9), n ~ N(0, σ²I)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Noise levels σ: </a:t>
            </a:r>
            <a:r>
              <a:rPr b="0" lang="en-US" sz="15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0.005 · 0.01 · 0.05 · 0.1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5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Methods required: </a:t>
            </a:r>
            <a:r>
              <a:rPr b="0" lang="en-US" sz="15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(1) Variational — TV regularization   (2) End-to-end — NAF-Net   (3) Generative — DPS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Metrics: </a:t>
            </a:r>
            <a:r>
              <a:rPr b="0" lang="en-US" sz="15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PSNR and SSIM on test set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Shape 7"/>
          <p:cNvSpPr/>
          <p:nvPr/>
        </p:nvSpPr>
        <p:spPr>
          <a:xfrm>
            <a:off x="457200" y="3794760"/>
            <a:ext cx="2468160" cy="776520"/>
          </a:xfrm>
          <a:prstGeom prst="roundRect">
            <a:avLst>
              <a:gd name="adj" fmla="val 5882"/>
            </a:avLst>
          </a:prstGeom>
          <a:solidFill>
            <a:srgbClr val="2471a3"/>
          </a:solidFill>
          <a:ln w="12700">
            <a:solidFill>
              <a:srgbClr val="2471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Text 8"/>
          <p:cNvSpPr/>
          <p:nvPr/>
        </p:nvSpPr>
        <p:spPr>
          <a:xfrm>
            <a:off x="457200" y="3794760"/>
            <a:ext cx="2468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TV-ADMM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Variational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3246120" y="3794760"/>
            <a:ext cx="2468160" cy="776520"/>
          </a:xfrm>
          <a:prstGeom prst="roundRect">
            <a:avLst>
              <a:gd name="adj" fmla="val 5882"/>
            </a:avLst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3246120" y="3794760"/>
            <a:ext cx="2468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NAF-Net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End-to-End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Shape 11"/>
          <p:cNvSpPr/>
          <p:nvPr/>
        </p:nvSpPr>
        <p:spPr>
          <a:xfrm>
            <a:off x="6035040" y="3794760"/>
            <a:ext cx="2468160" cy="776520"/>
          </a:xfrm>
          <a:prstGeom prst="roundRect">
            <a:avLst>
              <a:gd name="adj" fmla="val 5882"/>
            </a:avLst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6035040" y="3794760"/>
            <a:ext cx="246816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DPS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Generative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0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420760" y="4439520"/>
            <a:ext cx="680400" cy="68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b22222"/>
                </a:solidFill>
                <a:uFillTx/>
                <a:latin typeface="Calibri"/>
                <a:ea typeface="Calibri"/>
              </a:rPr>
              <a:t>Methodology — Problem Formulation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457200" y="840960"/>
            <a:ext cx="8229600" cy="360"/>
          </a:xfrm>
          <a:prstGeom prst="line">
            <a:avLst/>
          </a:prstGeom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457200" y="960120"/>
            <a:ext cx="8228880" cy="593640"/>
          </a:xfrm>
          <a:prstGeom prst="rect">
            <a:avLst/>
          </a:prstGeom>
          <a:solidFill>
            <a:srgbClr val="eef4ff"/>
          </a:solidFill>
          <a:ln w="12700">
            <a:solidFill>
              <a:srgbClr val="aab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548640" y="960120"/>
            <a:ext cx="80460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a3a6a"/>
                </a:solidFill>
                <a:uFillTx/>
                <a:latin typeface="Courier New"/>
                <a:ea typeface="Courier New"/>
              </a:rPr>
              <a:t>y  =  A(x)  +  n          n ~ N(0, σ²I)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457200" y="1627560"/>
            <a:ext cx="82288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x</a:t>
            </a:r>
            <a:r>
              <a:rPr b="0" lang="en-US" sz="16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 ∈ [0,1]³  — clean RGB image (unknown)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A</a:t>
            </a:r>
            <a:r>
              <a:rPr b="0" lang="en-US" sz="16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 — Gaussian blur operator   (σ_blur = 2, kernel 9×9)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6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n</a:t>
            </a:r>
            <a:r>
              <a:rPr b="0" lang="en-US" sz="16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 — additive Gaussian noise   σ ∈ {0.005, 0.01, 0.05, 0.1}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b22222"/>
                </a:solidFill>
                <a:uFillTx/>
                <a:latin typeface="Calibri"/>
                <a:ea typeface="Calibri"/>
              </a:rPr>
              <a:t>Goal:</a:t>
            </a:r>
            <a:r>
              <a:rPr b="0" lang="en-US" sz="16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 recover x* from y — ill-posed inverse problem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365760" y="3017520"/>
            <a:ext cx="2742480" cy="1690920"/>
          </a:xfrm>
          <a:prstGeom prst="rect">
            <a:avLst/>
          </a:prstGeom>
          <a:solidFill>
            <a:srgbClr val="f5f5f5"/>
          </a:solidFill>
          <a:ln w="25400">
            <a:solidFill>
              <a:srgbClr val="2471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365760" y="3017520"/>
            <a:ext cx="2742480" cy="3466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457200" y="3017520"/>
            <a:ext cx="2559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TV-ADMM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438840" y="3401640"/>
            <a:ext cx="25963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3a6a"/>
                </a:solidFill>
                <a:uFillTx/>
                <a:latin typeface="Courier New"/>
                <a:ea typeface="Courier New"/>
              </a:rPr>
              <a:t>min_x ½‖Ax−y‖² + λ·TV(x)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438840" y="3858840"/>
            <a:ext cx="25963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Convex optimization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ADMM solver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3246120" y="3017520"/>
            <a:ext cx="2742480" cy="1690920"/>
          </a:xfrm>
          <a:prstGeom prst="rect">
            <a:avLst/>
          </a:prstGeom>
          <a:solidFill>
            <a:srgbClr val="f5f5f5"/>
          </a:solidFill>
          <a:ln w="254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Shape 13"/>
          <p:cNvSpPr/>
          <p:nvPr/>
        </p:nvSpPr>
        <p:spPr>
          <a:xfrm>
            <a:off x="3246120" y="3017520"/>
            <a:ext cx="2742480" cy="3466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3337560" y="3017520"/>
            <a:ext cx="2559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NAF-Net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3319200" y="3401640"/>
            <a:ext cx="25963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3a6a"/>
                </a:solidFill>
                <a:uFillTx/>
                <a:latin typeface="Courier New"/>
                <a:ea typeface="Courier New"/>
              </a:rPr>
              <a:t>f_θ: y → x*   (supervised)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3319200" y="3858840"/>
            <a:ext cx="25963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Deep learning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Noise conditioned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Shape 17"/>
          <p:cNvSpPr/>
          <p:nvPr/>
        </p:nvSpPr>
        <p:spPr>
          <a:xfrm>
            <a:off x="6126480" y="3017520"/>
            <a:ext cx="2742480" cy="1690920"/>
          </a:xfrm>
          <a:prstGeom prst="rect">
            <a:avLst/>
          </a:prstGeom>
          <a:solidFill>
            <a:srgbClr val="f5f5f5"/>
          </a:solidFill>
          <a:ln w="254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Shape 18"/>
          <p:cNvSpPr/>
          <p:nvPr/>
        </p:nvSpPr>
        <p:spPr>
          <a:xfrm>
            <a:off x="6126480" y="3017520"/>
            <a:ext cx="2742480" cy="3466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" name="Text 19"/>
          <p:cNvSpPr/>
          <p:nvPr/>
        </p:nvSpPr>
        <p:spPr>
          <a:xfrm>
            <a:off x="6217920" y="3017520"/>
            <a:ext cx="2559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DPS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6199560" y="3401640"/>
            <a:ext cx="25963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3a6a"/>
                </a:solidFill>
                <a:uFillTx/>
                <a:latin typeface="Courier New"/>
                <a:ea typeface="Courier New"/>
              </a:rPr>
              <a:t>p(x|y) ∝ p(y|x)·p(x)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6199560" y="3858840"/>
            <a:ext cx="259632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Generative prior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Reverse diffusion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421120" y="4439880"/>
            <a:ext cx="680400" cy="68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b22222"/>
                </a:solidFill>
                <a:uFillTx/>
                <a:latin typeface="Calibri"/>
                <a:ea typeface="Calibri"/>
              </a:rPr>
              <a:t>Methodology — TV-ADMM (Variational)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Shape 1"/>
          <p:cNvSpPr/>
          <p:nvPr/>
        </p:nvSpPr>
        <p:spPr>
          <a:xfrm>
            <a:off x="457200" y="840960"/>
            <a:ext cx="8229600" cy="360"/>
          </a:xfrm>
          <a:prstGeom prst="line">
            <a:avLst/>
          </a:prstGeom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Shape 4"/>
          <p:cNvSpPr/>
          <p:nvPr/>
        </p:nvSpPr>
        <p:spPr>
          <a:xfrm>
            <a:off x="457200" y="960120"/>
            <a:ext cx="8228880" cy="566280"/>
          </a:xfrm>
          <a:prstGeom prst="rect">
            <a:avLst/>
          </a:prstGeom>
          <a:solidFill>
            <a:srgbClr val="eef4ff"/>
          </a:solidFill>
          <a:ln w="12700">
            <a:solidFill>
              <a:srgbClr val="aab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548640" y="960120"/>
            <a:ext cx="80460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a3a6a"/>
                </a:solidFill>
                <a:uFillTx/>
                <a:latin typeface="Courier New"/>
                <a:ea typeface="Courier New"/>
              </a:rPr>
              <a:t>x* = argmin_x   ½ ‖Ax − y‖²  +  λ · TV(x)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2700000" y="166032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ADMM — 3 alternating steps per iteration: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Shape 7"/>
          <p:cNvSpPr/>
          <p:nvPr/>
        </p:nvSpPr>
        <p:spPr>
          <a:xfrm>
            <a:off x="457200" y="1965960"/>
            <a:ext cx="410760" cy="4748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457200" y="1965960"/>
            <a:ext cx="410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1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Shape 9"/>
          <p:cNvSpPr/>
          <p:nvPr/>
        </p:nvSpPr>
        <p:spPr>
          <a:xfrm>
            <a:off x="914400" y="1965960"/>
            <a:ext cx="7771680" cy="474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1005840" y="1965960"/>
            <a:ext cx="11880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471a3"/>
                </a:solidFill>
                <a:uFillTx/>
                <a:latin typeface="Calibri"/>
                <a:ea typeface="Calibri"/>
              </a:rPr>
              <a:t>x-update: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2240280" y="1965960"/>
            <a:ext cx="64000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ourier New"/>
                <a:ea typeface="Courier New"/>
              </a:rPr>
              <a:t>Solve  (AᵀA + ρ DᵀD) x = rhs   →  gradient descent steps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Shape 12"/>
          <p:cNvSpPr/>
          <p:nvPr/>
        </p:nvSpPr>
        <p:spPr>
          <a:xfrm>
            <a:off x="457200" y="2532960"/>
            <a:ext cx="410760" cy="4748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457200" y="2532960"/>
            <a:ext cx="410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2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Shape 14"/>
          <p:cNvSpPr/>
          <p:nvPr/>
        </p:nvSpPr>
        <p:spPr>
          <a:xfrm>
            <a:off x="914400" y="2532960"/>
            <a:ext cx="7771680" cy="474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Text 15"/>
          <p:cNvSpPr/>
          <p:nvPr/>
        </p:nvSpPr>
        <p:spPr>
          <a:xfrm>
            <a:off x="1005840" y="2532960"/>
            <a:ext cx="11880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471a3"/>
                </a:solidFill>
                <a:uFillTx/>
                <a:latin typeface="Calibri"/>
                <a:ea typeface="Calibri"/>
              </a:rPr>
              <a:t>z-update: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Text 16"/>
          <p:cNvSpPr/>
          <p:nvPr/>
        </p:nvSpPr>
        <p:spPr>
          <a:xfrm>
            <a:off x="2240280" y="2532960"/>
            <a:ext cx="64000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ourier New"/>
                <a:ea typeface="Courier New"/>
              </a:rPr>
              <a:t>Soft-thresholding  →  proximal operator of (λ/ρ)‖·‖₂,₁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Shape 17"/>
          <p:cNvSpPr/>
          <p:nvPr/>
        </p:nvSpPr>
        <p:spPr>
          <a:xfrm>
            <a:off x="457200" y="3099960"/>
            <a:ext cx="410760" cy="4748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8" name="Text 18"/>
          <p:cNvSpPr/>
          <p:nvPr/>
        </p:nvSpPr>
        <p:spPr>
          <a:xfrm>
            <a:off x="457200" y="3099960"/>
            <a:ext cx="410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3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Shape 19"/>
          <p:cNvSpPr/>
          <p:nvPr/>
        </p:nvSpPr>
        <p:spPr>
          <a:xfrm>
            <a:off x="914400" y="3099960"/>
            <a:ext cx="7771680" cy="474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Text 20"/>
          <p:cNvSpPr/>
          <p:nvPr/>
        </p:nvSpPr>
        <p:spPr>
          <a:xfrm>
            <a:off x="1005840" y="3099960"/>
            <a:ext cx="11880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471a3"/>
                </a:solidFill>
                <a:uFillTx/>
                <a:latin typeface="Calibri"/>
                <a:ea typeface="Calibri"/>
              </a:rPr>
              <a:t>u-update: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2240280" y="3099960"/>
            <a:ext cx="64000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ourier New"/>
                <a:ea typeface="Courier New"/>
              </a:rPr>
              <a:t>Dual ascent  →  u ← u + DᵀD − z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Text 22"/>
          <p:cNvSpPr/>
          <p:nvPr/>
        </p:nvSpPr>
        <p:spPr>
          <a:xfrm>
            <a:off x="2340000" y="3575160"/>
            <a:ext cx="7314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Hyperparameter λ — tuned on validation set (grid search, max PSNR):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63" name="Table 0"/>
          <p:cNvGraphicFramePr/>
          <p:nvPr/>
        </p:nvGraphicFramePr>
        <p:xfrm>
          <a:off x="2333880" y="3831840"/>
          <a:ext cx="5028840" cy="13878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325880"/>
                <a:gridCol w="1325880"/>
              </a:tblGrid>
              <a:tr h="2775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σ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λ*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PSNR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2471a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SSIM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2471a3"/>
                    </a:solidFill>
                  </a:tcPr>
                </a:tc>
              </a:tr>
              <a:tr h="277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0.005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0.001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29.78 dB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0.873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277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0.01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0.005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29.42 dB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0.856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2775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0.05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0.020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28.07 dB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0.796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0.1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0.050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26.56 dB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0.739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4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421480" y="4440240"/>
            <a:ext cx="680400" cy="68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b22222"/>
                </a:solidFill>
                <a:uFillTx/>
                <a:latin typeface="Calibri"/>
                <a:ea typeface="Calibri"/>
              </a:rPr>
              <a:t>Methodology — NAF-Net (End-to-End)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Shape 1"/>
          <p:cNvSpPr/>
          <p:nvPr/>
        </p:nvSpPr>
        <p:spPr>
          <a:xfrm>
            <a:off x="457200" y="840960"/>
            <a:ext cx="8229600" cy="360"/>
          </a:xfrm>
          <a:prstGeom prst="line">
            <a:avLst/>
          </a:prstGeom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2160000" y="96768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Architecture: U-Net + Simple Gate (replaces all GELU/ReLU)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Shape 5"/>
          <p:cNvSpPr/>
          <p:nvPr/>
        </p:nvSpPr>
        <p:spPr>
          <a:xfrm>
            <a:off x="274320" y="1325880"/>
            <a:ext cx="1279440" cy="4564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274320" y="1325880"/>
            <a:ext cx="1279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Input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[RGB|σ] 4ch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1828800" y="1325880"/>
            <a:ext cx="1279440" cy="456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1828800" y="1325880"/>
            <a:ext cx="1279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Encoder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×3 stages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Shape 9"/>
          <p:cNvSpPr/>
          <p:nvPr/>
        </p:nvSpPr>
        <p:spPr>
          <a:xfrm>
            <a:off x="3429000" y="1325880"/>
            <a:ext cx="1279440" cy="4564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3429000" y="1325880"/>
            <a:ext cx="1279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Bottleneck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NAF Block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4" name="Shape 11"/>
          <p:cNvSpPr/>
          <p:nvPr/>
        </p:nvSpPr>
        <p:spPr>
          <a:xfrm>
            <a:off x="5029200" y="1325880"/>
            <a:ext cx="1279440" cy="456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5029200" y="1325880"/>
            <a:ext cx="1279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Decoder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×3 stages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6675120" y="1325880"/>
            <a:ext cx="1279440" cy="4564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6675120" y="1325880"/>
            <a:ext cx="1279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Output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RGB 3ch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Shape 15"/>
          <p:cNvSpPr/>
          <p:nvPr/>
        </p:nvSpPr>
        <p:spPr>
          <a:xfrm>
            <a:off x="1554480" y="1536120"/>
            <a:ext cx="273600" cy="127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 w="12700">
            <a:solidFill>
              <a:srgbClr val="5555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9" name="Shape 16"/>
          <p:cNvSpPr/>
          <p:nvPr/>
        </p:nvSpPr>
        <p:spPr>
          <a:xfrm>
            <a:off x="3154680" y="1536120"/>
            <a:ext cx="273600" cy="127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 w="12700">
            <a:solidFill>
              <a:srgbClr val="5555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0" name="Shape 17"/>
          <p:cNvSpPr/>
          <p:nvPr/>
        </p:nvSpPr>
        <p:spPr>
          <a:xfrm>
            <a:off x="4754880" y="1536120"/>
            <a:ext cx="273600" cy="127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 w="12700">
            <a:solidFill>
              <a:srgbClr val="5555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1" name="Shape 18"/>
          <p:cNvSpPr/>
          <p:nvPr/>
        </p:nvSpPr>
        <p:spPr>
          <a:xfrm>
            <a:off x="6355080" y="1536120"/>
            <a:ext cx="273600" cy="1274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55555"/>
          </a:solidFill>
          <a:ln w="12700">
            <a:solidFill>
              <a:srgbClr val="5555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2" name="Text 19"/>
          <p:cNvSpPr/>
          <p:nvPr/>
        </p:nvSpPr>
        <p:spPr>
          <a:xfrm>
            <a:off x="1828800" y="1828800"/>
            <a:ext cx="457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e8449"/>
                </a:solidFill>
                <a:uFillTx/>
                <a:latin typeface="Calibri"/>
                <a:ea typeface="Calibri"/>
              </a:rPr>
              <a:t>← </a:t>
            </a:r>
            <a:r>
              <a:rPr b="0" lang="en-US" sz="1100" strike="noStrike" u="none">
                <a:solidFill>
                  <a:srgbClr val="1e8449"/>
                </a:solidFill>
                <a:uFillTx/>
                <a:latin typeface="Calibri"/>
                <a:ea typeface="Calibri"/>
              </a:rPr>
              <a:t>Skip connections →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Shape 20"/>
          <p:cNvSpPr/>
          <p:nvPr/>
        </p:nvSpPr>
        <p:spPr>
          <a:xfrm>
            <a:off x="274320" y="2148840"/>
            <a:ext cx="3931200" cy="1690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Shape 21"/>
          <p:cNvSpPr/>
          <p:nvPr/>
        </p:nvSpPr>
        <p:spPr>
          <a:xfrm>
            <a:off x="274320" y="2148840"/>
            <a:ext cx="3931200" cy="319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Text 22"/>
          <p:cNvSpPr/>
          <p:nvPr/>
        </p:nvSpPr>
        <p:spPr>
          <a:xfrm>
            <a:off x="347400" y="2148840"/>
            <a:ext cx="3785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NAF Block — Simple Gate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Text 23"/>
          <p:cNvSpPr/>
          <p:nvPr/>
        </p:nvSpPr>
        <p:spPr>
          <a:xfrm>
            <a:off x="347400" y="2496240"/>
            <a:ext cx="37850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1.  LayerNorm + depthwise conv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2.  SimpleGate: SG(x) = x₁ · x₂   (no GELU)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3.  Channel attention (sigmoid)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4.  Feed-forward + learnable β, γ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Shape 24"/>
          <p:cNvSpPr/>
          <p:nvPr/>
        </p:nvSpPr>
        <p:spPr>
          <a:xfrm>
            <a:off x="4389120" y="2148840"/>
            <a:ext cx="4296960" cy="1690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Shape 25"/>
          <p:cNvSpPr/>
          <p:nvPr/>
        </p:nvSpPr>
        <p:spPr>
          <a:xfrm>
            <a:off x="4389120" y="2148840"/>
            <a:ext cx="4296960" cy="319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9" name="Text 26"/>
          <p:cNvSpPr/>
          <p:nvPr/>
        </p:nvSpPr>
        <p:spPr>
          <a:xfrm>
            <a:off x="4462200" y="2148840"/>
            <a:ext cx="415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Training Setup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Text 27"/>
          <p:cNvSpPr/>
          <p:nvPr/>
        </p:nvSpPr>
        <p:spPr>
          <a:xfrm>
            <a:off x="4462200" y="2496240"/>
            <a:ext cx="41508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Optimizer:  Adam, lr=1e-3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Schedule:  Cosine Annealing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Loss:  L1 + 0.1×(1−SSIM)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Epochs / Batch:  30 / 4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Augmentation:  H/V flip p=0.5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Noise conditioning:  4-channel input [RGB|σ]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Text 28"/>
          <p:cNvSpPr/>
          <p:nvPr/>
        </p:nvSpPr>
        <p:spPr>
          <a:xfrm>
            <a:off x="457200" y="393192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e8449"/>
                </a:solidFill>
                <a:uFillTx/>
                <a:latin typeface="Calibri"/>
                <a:ea typeface="Calibri"/>
              </a:rPr>
              <a:t>★  </a:t>
            </a:r>
            <a:r>
              <a:rPr b="1" lang="en-US" sz="1200" strike="noStrike" u="none">
                <a:solidFill>
                  <a:srgbClr val="1e8449"/>
                </a:solidFill>
                <a:uFillTx/>
                <a:latin typeface="Calibri"/>
                <a:ea typeface="Calibri"/>
              </a:rPr>
              <a:t>Why NAF-Net? Designed for joint deblur+denoise. Outperforms UNet on GoPro &amp; SIDD. ViT needs 10× more data.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421840" y="4440600"/>
            <a:ext cx="680400" cy="68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b22222"/>
                </a:solidFill>
                <a:uFillTx/>
                <a:latin typeface="Calibri"/>
                <a:ea typeface="Calibri"/>
              </a:rPr>
              <a:t>Methodology — DPS (Generative)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Shape 1"/>
          <p:cNvSpPr/>
          <p:nvPr/>
        </p:nvSpPr>
        <p:spPr>
          <a:xfrm>
            <a:off x="457200" y="840960"/>
            <a:ext cx="8229600" cy="360"/>
          </a:xfrm>
          <a:prstGeom prst="line">
            <a:avLst/>
          </a:prstGeom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457200" y="960120"/>
            <a:ext cx="8228880" cy="547920"/>
          </a:xfrm>
          <a:prstGeom prst="rect">
            <a:avLst/>
          </a:prstGeom>
          <a:solidFill>
            <a:srgbClr val="eef4ff"/>
          </a:solidFill>
          <a:ln w="12700">
            <a:solidFill>
              <a:srgbClr val="aabb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548640" y="960120"/>
            <a:ext cx="804600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a3a6a"/>
                </a:solidFill>
                <a:uFillTx/>
                <a:latin typeface="Courier New"/>
                <a:ea typeface="Courier New"/>
              </a:rPr>
              <a:t>p(x | y)  ∝  p(y | x) · p(x)  =  N(y ; A(x), σ²I) · p_diffusion(x)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457200" y="1572840"/>
            <a:ext cx="8228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DPS Reverse Diffusion Loop  (Chung et al., ICLR 2023):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457200" y="1920240"/>
            <a:ext cx="1188000" cy="456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9" name="Text 8"/>
          <p:cNvSpPr/>
          <p:nvPr/>
        </p:nvSpPr>
        <p:spPr>
          <a:xfrm>
            <a:off x="457200" y="1920240"/>
            <a:ext cx="1188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Predict x̂₀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Shape 9"/>
          <p:cNvSpPr/>
          <p:nvPr/>
        </p:nvSpPr>
        <p:spPr>
          <a:xfrm>
            <a:off x="1691640" y="1920240"/>
            <a:ext cx="699444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1783080" y="1920240"/>
            <a:ext cx="6811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3a6a"/>
                </a:solidFill>
                <a:uFillTx/>
                <a:latin typeface="Courier New"/>
                <a:ea typeface="Courier New"/>
              </a:rPr>
              <a:t>x̂₀(xₜ,t) = (xₜ − √(1−αₜ)·εΘ(xₜ,t)) / √αₜ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Shape 11"/>
          <p:cNvSpPr/>
          <p:nvPr/>
        </p:nvSpPr>
        <p:spPr>
          <a:xfrm>
            <a:off x="457200" y="2468880"/>
            <a:ext cx="1188000" cy="456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3" name="Text 12"/>
          <p:cNvSpPr/>
          <p:nvPr/>
        </p:nvSpPr>
        <p:spPr>
          <a:xfrm>
            <a:off x="457200" y="2468880"/>
            <a:ext cx="1188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Gradient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Shape 13"/>
          <p:cNvSpPr/>
          <p:nvPr/>
        </p:nvSpPr>
        <p:spPr>
          <a:xfrm>
            <a:off x="1691640" y="2468880"/>
            <a:ext cx="699444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Text 14"/>
          <p:cNvSpPr/>
          <p:nvPr/>
        </p:nvSpPr>
        <p:spPr>
          <a:xfrm>
            <a:off x="1783080" y="2468880"/>
            <a:ext cx="6811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3a6a"/>
                </a:solidFill>
                <a:uFillTx/>
                <a:latin typeface="Courier New"/>
                <a:ea typeface="Courier New"/>
              </a:rPr>
              <a:t>gₜ = ∇_{xₜ} (1/2σ²) ‖K·x̂₀(xₜ,t) − y‖²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Shape 15"/>
          <p:cNvSpPr/>
          <p:nvPr/>
        </p:nvSpPr>
        <p:spPr>
          <a:xfrm>
            <a:off x="457200" y="3017520"/>
            <a:ext cx="1188000" cy="456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7" name="Text 16"/>
          <p:cNvSpPr/>
          <p:nvPr/>
        </p:nvSpPr>
        <p:spPr>
          <a:xfrm>
            <a:off x="457200" y="3017520"/>
            <a:ext cx="11880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Update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Shape 17"/>
          <p:cNvSpPr/>
          <p:nvPr/>
        </p:nvSpPr>
        <p:spPr>
          <a:xfrm>
            <a:off x="1691640" y="3017520"/>
            <a:ext cx="6994440" cy="456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Text 18"/>
          <p:cNvSpPr/>
          <p:nvPr/>
        </p:nvSpPr>
        <p:spPr>
          <a:xfrm>
            <a:off x="1783080" y="3017520"/>
            <a:ext cx="6811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3a6a"/>
                </a:solidFill>
                <a:uFillTx/>
                <a:latin typeface="Courier New"/>
                <a:ea typeface="Courier New"/>
              </a:rPr>
              <a:t>xₜ ≈ R_Θ(xₜ, t, s) − η·gₜ/‖gₜ‖   (guided DDIM step)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10" name="Table 0"/>
          <p:cNvGraphicFramePr/>
          <p:nvPr/>
        </p:nvGraphicFramePr>
        <p:xfrm>
          <a:off x="457200" y="3547800"/>
          <a:ext cx="8229240" cy="166536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3108960"/>
              </a:tblGrid>
              <a:tr h="2361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Parameter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6c348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Value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6c348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Notes</a:t>
                      </a:r>
                      <a:endParaRPr b="0" lang="en-US" sz="12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6c3483"/>
                    </a:solidFill>
                  </a:tcPr>
                </a:tc>
              </a:tr>
              <a:tr h="236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Pre-trained model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google/ddpm-celebahq-256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HuggingFace — face domain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236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N steps (DDIM)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200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Quality/speed trade-off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236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ζ (guidance)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1.0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Uniform across all σ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236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Post-processing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Gaussian blend α=0.10–0.15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Only σ ≥ 0.05 — reduce artefacts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2361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Compute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Google Colab T4 GPU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~60 sec/image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11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460000" y="4462920"/>
            <a:ext cx="680400" cy="68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b22222"/>
                </a:solidFill>
                <a:uFillTx/>
                <a:latin typeface="Calibri"/>
                <a:ea typeface="Calibri"/>
              </a:rPr>
              <a:t>Implementation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Shape 1"/>
          <p:cNvSpPr/>
          <p:nvPr/>
        </p:nvSpPr>
        <p:spPr>
          <a:xfrm>
            <a:off x="457200" y="840960"/>
            <a:ext cx="8229600" cy="360"/>
          </a:xfrm>
          <a:prstGeom prst="line">
            <a:avLst/>
          </a:prstGeom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Shape 5"/>
          <p:cNvSpPr/>
          <p:nvPr/>
        </p:nvSpPr>
        <p:spPr>
          <a:xfrm>
            <a:off x="274320" y="1298520"/>
            <a:ext cx="4022640" cy="3193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5" name="Text 6"/>
          <p:cNvSpPr/>
          <p:nvPr/>
        </p:nvSpPr>
        <p:spPr>
          <a:xfrm>
            <a:off x="365760" y="129852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TV-ADMM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Shape 7"/>
          <p:cNvSpPr/>
          <p:nvPr/>
        </p:nvSpPr>
        <p:spPr>
          <a:xfrm>
            <a:off x="274320" y="1645920"/>
            <a:ext cx="4022640" cy="1690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365760" y="169164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Blur operator: scipy.ndimage.convolve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Text 9"/>
          <p:cNvSpPr/>
          <p:nvPr/>
        </p:nvSpPr>
        <p:spPr>
          <a:xfrm>
            <a:off x="365760" y="209412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Finite differences: D_h, D_v (forward), D_hᵀ, D_vᵀ (adjoint)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365760" y="249624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100 outer ADMM iterations, 5 inner gradient steps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365760" y="289872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λ tuned per σ on validation set (grid search)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Shape 12"/>
          <p:cNvSpPr/>
          <p:nvPr/>
        </p:nvSpPr>
        <p:spPr>
          <a:xfrm>
            <a:off x="4480560" y="1298520"/>
            <a:ext cx="4022640" cy="319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4572000" y="1298520"/>
            <a:ext cx="3839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NAF-Net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Shape 14"/>
          <p:cNvSpPr/>
          <p:nvPr/>
        </p:nvSpPr>
        <p:spPr>
          <a:xfrm>
            <a:off x="4480560" y="1645920"/>
            <a:ext cx="4022640" cy="1690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 15"/>
          <p:cNvSpPr/>
          <p:nvPr/>
        </p:nvSpPr>
        <p:spPr>
          <a:xfrm>
            <a:off x="4572000" y="169164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U-Net with 3 encoder/decoder stages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Text 16"/>
          <p:cNvSpPr/>
          <p:nvPr/>
        </p:nvSpPr>
        <p:spPr>
          <a:xfrm>
            <a:off x="4572000" y="209412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NAF Block: depthwise conv + Simple Gate (no activation)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4572000" y="249624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4-channel input: [R,G,B,σ_map] — noise conditioning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4572000" y="2898720"/>
            <a:ext cx="38397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Training: 30 epochs, Adam, L1+SSIM loss, CPU ~2h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Shape 19"/>
          <p:cNvSpPr/>
          <p:nvPr/>
        </p:nvSpPr>
        <p:spPr>
          <a:xfrm>
            <a:off x="274320" y="3401640"/>
            <a:ext cx="8228880" cy="3193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9" name="Text 20"/>
          <p:cNvSpPr/>
          <p:nvPr/>
        </p:nvSpPr>
        <p:spPr>
          <a:xfrm>
            <a:off x="365760" y="3401640"/>
            <a:ext cx="8046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DPS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Shape 21"/>
          <p:cNvSpPr/>
          <p:nvPr/>
        </p:nvSpPr>
        <p:spPr>
          <a:xfrm>
            <a:off x="274320" y="3749040"/>
            <a:ext cx="8228880" cy="1005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Text 22"/>
          <p:cNvSpPr/>
          <p:nvPr/>
        </p:nvSpPr>
        <p:spPr>
          <a:xfrm>
            <a:off x="365760" y="3785760"/>
            <a:ext cx="80460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Differentiable Gaussian blur via F.conv2d (groups=3) — maintains autograd graph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Likelihood gradient: grad = ∇_{xₜ} mean((blur(x̂₀)−y)²) / (2σ²) — via torch.autograd.grad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Evaluated on Google Colab T4 GPU — same 5 test images as TV/NAF for coherent visual comparison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412120" y="4462920"/>
            <a:ext cx="680400" cy="68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b22222"/>
                </a:solidFill>
                <a:uFillTx/>
                <a:latin typeface="Calibri"/>
                <a:ea typeface="Calibri"/>
              </a:rPr>
              <a:t>Introduce the Experiments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Shape 1"/>
          <p:cNvSpPr/>
          <p:nvPr/>
        </p:nvSpPr>
        <p:spPr>
          <a:xfrm>
            <a:off x="457200" y="840960"/>
            <a:ext cx="8229600" cy="360"/>
          </a:xfrm>
          <a:prstGeom prst="line">
            <a:avLst/>
          </a:prstGeom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Shape 4"/>
          <p:cNvSpPr/>
          <p:nvPr/>
        </p:nvSpPr>
        <p:spPr>
          <a:xfrm>
            <a:off x="274320" y="960120"/>
            <a:ext cx="3931200" cy="1828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Shape 5"/>
          <p:cNvSpPr/>
          <p:nvPr/>
        </p:nvSpPr>
        <p:spPr>
          <a:xfrm>
            <a:off x="274320" y="960120"/>
            <a:ext cx="3931200" cy="3193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347400" y="960120"/>
            <a:ext cx="3785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Dataset — FFHQ 256×256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347400" y="1307520"/>
            <a:ext cx="378504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70,000 high-quality face images (Karras et al. 2019)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2,000 selected with seed=42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Split: 70% train / 15% val / 15% test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Normalization: [0,1] float32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100 test images per σ (TV/NAF) · 5 images (DPS)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4389120" y="960120"/>
            <a:ext cx="4296960" cy="1828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Shape 9"/>
          <p:cNvSpPr/>
          <p:nvPr/>
        </p:nvSpPr>
        <p:spPr>
          <a:xfrm>
            <a:off x="4389120" y="960120"/>
            <a:ext cx="4296960" cy="3193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4462200" y="960120"/>
            <a:ext cx="415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Degradation Pipeline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4462200" y="1307520"/>
            <a:ext cx="415080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y = A(x) + n   (identical for all methods)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A = Gaussian blur: σ=2, kernel 9×9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n ~ N(0, σ²I)  with fixed random seed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Pre-generated and saved to disk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• </a:t>
            </a: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σ ∈ {0.005, 0.01, 0.05, 0.1}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274320" y="2853000"/>
            <a:ext cx="3931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Gaussian PSF (σ=2, 9×9)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Shape 13"/>
          <p:cNvSpPr/>
          <p:nvPr/>
        </p:nvSpPr>
        <p:spPr>
          <a:xfrm>
            <a:off x="320040" y="3154680"/>
            <a:ext cx="474840" cy="346680"/>
          </a:xfrm>
          <a:prstGeom prst="rect">
            <a:avLst/>
          </a:prstGeom>
          <a:solidFill>
            <a:srgbClr val="f2f2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Shape 14"/>
          <p:cNvSpPr/>
          <p:nvPr/>
        </p:nvSpPr>
        <p:spPr>
          <a:xfrm>
            <a:off x="822960" y="3154680"/>
            <a:ext cx="474840" cy="346680"/>
          </a:xfrm>
          <a:prstGeom prst="rect">
            <a:avLst/>
          </a:prstGeom>
          <a:solidFill>
            <a:srgbClr val="d9d9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Shape 15"/>
          <p:cNvSpPr/>
          <p:nvPr/>
        </p:nvSpPr>
        <p:spPr>
          <a:xfrm>
            <a:off x="1325880" y="3154680"/>
            <a:ext cx="474840" cy="346680"/>
          </a:xfrm>
          <a:prstGeom prst="rect">
            <a:avLst/>
          </a:prstGeom>
          <a:solidFill>
            <a:srgbClr val="bfbf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Shape 16"/>
          <p:cNvSpPr/>
          <p:nvPr/>
        </p:nvSpPr>
        <p:spPr>
          <a:xfrm>
            <a:off x="1828800" y="3154680"/>
            <a:ext cx="474840" cy="346680"/>
          </a:xfrm>
          <a:prstGeom prst="rect">
            <a:avLst/>
          </a:prstGeom>
          <a:solidFill>
            <a:srgbClr val="b3b3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Shape 17"/>
          <p:cNvSpPr/>
          <p:nvPr/>
        </p:nvSpPr>
        <p:spPr>
          <a:xfrm>
            <a:off x="2331720" y="3154680"/>
            <a:ext cx="474840" cy="346680"/>
          </a:xfrm>
          <a:prstGeom prst="rect">
            <a:avLst/>
          </a:prstGeom>
          <a:solidFill>
            <a:srgbClr val="bfbf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Shape 18"/>
          <p:cNvSpPr/>
          <p:nvPr/>
        </p:nvSpPr>
        <p:spPr>
          <a:xfrm>
            <a:off x="2834640" y="3154680"/>
            <a:ext cx="474840" cy="346680"/>
          </a:xfrm>
          <a:prstGeom prst="rect">
            <a:avLst/>
          </a:prstGeom>
          <a:solidFill>
            <a:srgbClr val="d9d9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0" name="Shape 19"/>
          <p:cNvSpPr/>
          <p:nvPr/>
        </p:nvSpPr>
        <p:spPr>
          <a:xfrm>
            <a:off x="3337560" y="3154680"/>
            <a:ext cx="474840" cy="346680"/>
          </a:xfrm>
          <a:prstGeom prst="rect">
            <a:avLst/>
          </a:prstGeom>
          <a:solidFill>
            <a:srgbClr val="f2f2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Shape 20"/>
          <p:cNvSpPr/>
          <p:nvPr/>
        </p:nvSpPr>
        <p:spPr>
          <a:xfrm>
            <a:off x="320040" y="3538800"/>
            <a:ext cx="474840" cy="346680"/>
          </a:xfrm>
          <a:prstGeom prst="rect">
            <a:avLst/>
          </a:prstGeom>
          <a:solidFill>
            <a:srgbClr val="d9d9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Shape 21"/>
          <p:cNvSpPr/>
          <p:nvPr/>
        </p:nvSpPr>
        <p:spPr>
          <a:xfrm>
            <a:off x="822960" y="3538800"/>
            <a:ext cx="474840" cy="346680"/>
          </a:xfrm>
          <a:prstGeom prst="rect">
            <a:avLst/>
          </a:prstGeom>
          <a:solidFill>
            <a:srgbClr val="b3b3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Shape 22"/>
          <p:cNvSpPr/>
          <p:nvPr/>
        </p:nvSpPr>
        <p:spPr>
          <a:xfrm>
            <a:off x="1325880" y="3538800"/>
            <a:ext cx="474840" cy="346680"/>
          </a:xfrm>
          <a:prstGeom prst="rect">
            <a:avLst/>
          </a:prstGeom>
          <a:solidFill>
            <a:srgbClr val="8c8c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4" name="Shape 23"/>
          <p:cNvSpPr/>
          <p:nvPr/>
        </p:nvSpPr>
        <p:spPr>
          <a:xfrm>
            <a:off x="1828800" y="3538800"/>
            <a:ext cx="474840" cy="346680"/>
          </a:xfrm>
          <a:prstGeom prst="rect">
            <a:avLst/>
          </a:prstGeom>
          <a:solidFill>
            <a:srgbClr val="8080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5" name="Shape 24"/>
          <p:cNvSpPr/>
          <p:nvPr/>
        </p:nvSpPr>
        <p:spPr>
          <a:xfrm>
            <a:off x="2331720" y="3538800"/>
            <a:ext cx="474840" cy="346680"/>
          </a:xfrm>
          <a:prstGeom prst="rect">
            <a:avLst/>
          </a:prstGeom>
          <a:solidFill>
            <a:srgbClr val="8c8c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6" name="Shape 25"/>
          <p:cNvSpPr/>
          <p:nvPr/>
        </p:nvSpPr>
        <p:spPr>
          <a:xfrm>
            <a:off x="2834640" y="3538800"/>
            <a:ext cx="474840" cy="346680"/>
          </a:xfrm>
          <a:prstGeom prst="rect">
            <a:avLst/>
          </a:prstGeom>
          <a:solidFill>
            <a:srgbClr val="b3b3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Shape 26"/>
          <p:cNvSpPr/>
          <p:nvPr/>
        </p:nvSpPr>
        <p:spPr>
          <a:xfrm>
            <a:off x="3337560" y="3538800"/>
            <a:ext cx="474840" cy="346680"/>
          </a:xfrm>
          <a:prstGeom prst="rect">
            <a:avLst/>
          </a:prstGeom>
          <a:solidFill>
            <a:srgbClr val="d9d9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Shape 27"/>
          <p:cNvSpPr/>
          <p:nvPr/>
        </p:nvSpPr>
        <p:spPr>
          <a:xfrm>
            <a:off x="320040" y="3922920"/>
            <a:ext cx="474840" cy="346680"/>
          </a:xfrm>
          <a:prstGeom prst="rect">
            <a:avLst/>
          </a:prstGeom>
          <a:solidFill>
            <a:srgbClr val="bfbf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Shape 28"/>
          <p:cNvSpPr/>
          <p:nvPr/>
        </p:nvSpPr>
        <p:spPr>
          <a:xfrm>
            <a:off x="822960" y="3922920"/>
            <a:ext cx="474840" cy="346680"/>
          </a:xfrm>
          <a:prstGeom prst="rect">
            <a:avLst/>
          </a:prstGeom>
          <a:solidFill>
            <a:srgbClr val="8c8c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0" name="Shape 29"/>
          <p:cNvSpPr/>
          <p:nvPr/>
        </p:nvSpPr>
        <p:spPr>
          <a:xfrm>
            <a:off x="1325880" y="3922920"/>
            <a:ext cx="474840" cy="346680"/>
          </a:xfrm>
          <a:prstGeom prst="rect">
            <a:avLst/>
          </a:prstGeom>
          <a:solidFill>
            <a:srgbClr val="6060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1" name="Shape 30"/>
          <p:cNvSpPr/>
          <p:nvPr/>
        </p:nvSpPr>
        <p:spPr>
          <a:xfrm>
            <a:off x="1828800" y="3922920"/>
            <a:ext cx="474840" cy="346680"/>
          </a:xfrm>
          <a:prstGeom prst="rect">
            <a:avLst/>
          </a:prstGeom>
          <a:solidFill>
            <a:srgbClr val="4c4c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2" name="Shape 31"/>
          <p:cNvSpPr/>
          <p:nvPr/>
        </p:nvSpPr>
        <p:spPr>
          <a:xfrm>
            <a:off x="2331720" y="3922920"/>
            <a:ext cx="474840" cy="346680"/>
          </a:xfrm>
          <a:prstGeom prst="rect">
            <a:avLst/>
          </a:prstGeom>
          <a:solidFill>
            <a:srgbClr val="6060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3" name="Shape 32"/>
          <p:cNvSpPr/>
          <p:nvPr/>
        </p:nvSpPr>
        <p:spPr>
          <a:xfrm>
            <a:off x="2834640" y="3922920"/>
            <a:ext cx="474840" cy="346680"/>
          </a:xfrm>
          <a:prstGeom prst="rect">
            <a:avLst/>
          </a:prstGeom>
          <a:solidFill>
            <a:srgbClr val="8c8c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4" name="Shape 33"/>
          <p:cNvSpPr/>
          <p:nvPr/>
        </p:nvSpPr>
        <p:spPr>
          <a:xfrm>
            <a:off x="3337560" y="3922920"/>
            <a:ext cx="474840" cy="346680"/>
          </a:xfrm>
          <a:prstGeom prst="rect">
            <a:avLst/>
          </a:prstGeom>
          <a:solidFill>
            <a:srgbClr val="bfbfff"/>
          </a:solidFill>
          <a:ln w="6350">
            <a:solidFill>
              <a:srgbClr val="dddd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Text 34"/>
          <p:cNvSpPr/>
          <p:nvPr/>
        </p:nvSpPr>
        <p:spPr>
          <a:xfrm>
            <a:off x="274320" y="4316040"/>
            <a:ext cx="39312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2471a3"/>
                </a:solidFill>
                <a:uFillTx/>
                <a:latin typeface="Calibri"/>
                <a:ea typeface="Calibri"/>
              </a:rPr>
              <a:t>← </a:t>
            </a:r>
            <a:r>
              <a:rPr b="0" lang="en-US" sz="1000" strike="noStrike" u="none">
                <a:solidFill>
                  <a:srgbClr val="2471a3"/>
                </a:solidFill>
                <a:uFillTx/>
                <a:latin typeface="Calibri"/>
                <a:ea typeface="Calibri"/>
              </a:rPr>
              <a:t>peak at center →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Text 35"/>
          <p:cNvSpPr/>
          <p:nvPr/>
        </p:nvSpPr>
        <p:spPr>
          <a:xfrm>
            <a:off x="4389120" y="285300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Noise levels σ: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Shape 36"/>
          <p:cNvSpPr/>
          <p:nvPr/>
        </p:nvSpPr>
        <p:spPr>
          <a:xfrm>
            <a:off x="4389120" y="3200400"/>
            <a:ext cx="959400" cy="502200"/>
          </a:xfrm>
          <a:prstGeom prst="roundRect">
            <a:avLst>
              <a:gd name="adj" fmla="val 10909"/>
            </a:avLst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8" name="Text 37"/>
          <p:cNvSpPr/>
          <p:nvPr/>
        </p:nvSpPr>
        <p:spPr>
          <a:xfrm>
            <a:off x="4389120" y="320040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0.005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Text 38"/>
          <p:cNvSpPr/>
          <p:nvPr/>
        </p:nvSpPr>
        <p:spPr>
          <a:xfrm>
            <a:off x="4389120" y="3730680"/>
            <a:ext cx="959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Very low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Shape 39"/>
          <p:cNvSpPr/>
          <p:nvPr/>
        </p:nvSpPr>
        <p:spPr>
          <a:xfrm>
            <a:off x="5440680" y="3200400"/>
            <a:ext cx="959400" cy="502200"/>
          </a:xfrm>
          <a:prstGeom prst="roundRect">
            <a:avLst>
              <a:gd name="adj" fmla="val 10909"/>
            </a:avLst>
          </a:prstGeom>
          <a:solidFill>
            <a:srgbClr val="2471a3"/>
          </a:solidFill>
          <a:ln w="12700">
            <a:solidFill>
              <a:srgbClr val="2471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1" name="Text 40"/>
          <p:cNvSpPr/>
          <p:nvPr/>
        </p:nvSpPr>
        <p:spPr>
          <a:xfrm>
            <a:off x="5440680" y="320040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0.01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Text 41"/>
          <p:cNvSpPr/>
          <p:nvPr/>
        </p:nvSpPr>
        <p:spPr>
          <a:xfrm>
            <a:off x="5440680" y="3730680"/>
            <a:ext cx="959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Low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Shape 42"/>
          <p:cNvSpPr/>
          <p:nvPr/>
        </p:nvSpPr>
        <p:spPr>
          <a:xfrm>
            <a:off x="6492240" y="3200400"/>
            <a:ext cx="959400" cy="502200"/>
          </a:xfrm>
          <a:prstGeom prst="roundRect">
            <a:avLst>
              <a:gd name="adj" fmla="val 10909"/>
            </a:avLst>
          </a:prstGeom>
          <a:solidFill>
            <a:srgbClr val="d35400"/>
          </a:solidFill>
          <a:ln w="12700">
            <a:solidFill>
              <a:srgbClr val="d354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4" name="Text 43"/>
          <p:cNvSpPr/>
          <p:nvPr/>
        </p:nvSpPr>
        <p:spPr>
          <a:xfrm>
            <a:off x="6492240" y="320040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0.05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Text 44"/>
          <p:cNvSpPr/>
          <p:nvPr/>
        </p:nvSpPr>
        <p:spPr>
          <a:xfrm>
            <a:off x="6492240" y="3730680"/>
            <a:ext cx="959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Medium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Shape 45"/>
          <p:cNvSpPr/>
          <p:nvPr/>
        </p:nvSpPr>
        <p:spPr>
          <a:xfrm>
            <a:off x="7543800" y="3200400"/>
            <a:ext cx="959400" cy="502200"/>
          </a:xfrm>
          <a:prstGeom prst="roundRect">
            <a:avLst>
              <a:gd name="adj" fmla="val 10909"/>
            </a:avLst>
          </a:prstGeom>
          <a:solidFill>
            <a:srgbClr val="b22222"/>
          </a:solidFill>
          <a:ln w="12700">
            <a:solidFill>
              <a:srgbClr val="b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7" name="Text 46"/>
          <p:cNvSpPr/>
          <p:nvPr/>
        </p:nvSpPr>
        <p:spPr>
          <a:xfrm>
            <a:off x="7543800" y="320040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0.1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Text 47"/>
          <p:cNvSpPr/>
          <p:nvPr/>
        </p:nvSpPr>
        <p:spPr>
          <a:xfrm>
            <a:off x="7543800" y="3730680"/>
            <a:ext cx="9594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High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Shape 48"/>
          <p:cNvSpPr/>
          <p:nvPr/>
        </p:nvSpPr>
        <p:spPr>
          <a:xfrm>
            <a:off x="4389120" y="4041720"/>
            <a:ext cx="4296960" cy="502200"/>
          </a:xfrm>
          <a:prstGeom prst="rect">
            <a:avLst/>
          </a:prstGeom>
          <a:solidFill>
            <a:srgbClr val="fff8e8"/>
          </a:solidFill>
          <a:ln w="12700">
            <a:solidFill>
              <a:srgbClr val="d354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Text 49"/>
          <p:cNvSpPr/>
          <p:nvPr/>
        </p:nvSpPr>
        <p:spPr>
          <a:xfrm>
            <a:off x="4480560" y="4078080"/>
            <a:ext cx="411408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d35400"/>
                </a:solidFill>
                <a:uFillTx/>
                <a:latin typeface="Calibri"/>
                <a:ea typeface="Calibri"/>
              </a:rPr>
              <a:t>⚠  </a:t>
            </a:r>
            <a:r>
              <a:rPr b="1" lang="en-US" sz="1200" strike="noStrike" u="none">
                <a:solidFill>
                  <a:srgbClr val="d35400"/>
                </a:solidFill>
                <a:uFillTx/>
                <a:latin typeface="Calibri"/>
                <a:ea typeface="Calibri"/>
              </a:rPr>
              <a:t>All methods use identical pre-saved degraded images — guaranteeing a perfectly fair comparison.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463240" y="4462920"/>
            <a:ext cx="680400" cy="68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b22222"/>
                </a:solidFill>
                <a:uFillTx/>
                <a:latin typeface="Calibri"/>
                <a:ea typeface="Calibri"/>
              </a:rPr>
              <a:t>Presentation of Numerical Results — PSNR &amp; SSIM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Shape 1"/>
          <p:cNvSpPr/>
          <p:nvPr/>
        </p:nvSpPr>
        <p:spPr>
          <a:xfrm>
            <a:off x="457200" y="840960"/>
            <a:ext cx="8229600" cy="360"/>
          </a:xfrm>
          <a:prstGeom prst="line">
            <a:avLst/>
          </a:prstGeom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Text 4"/>
          <p:cNvSpPr/>
          <p:nvPr/>
        </p:nvSpPr>
        <p:spPr>
          <a:xfrm>
            <a:off x="457200" y="9601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PSNR (dB) ↑ — higher is better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85" name="Table 0"/>
          <p:cNvGraphicFramePr/>
          <p:nvPr/>
        </p:nvGraphicFramePr>
        <p:xfrm>
          <a:off x="457200" y="1261800"/>
          <a:ext cx="8228520" cy="1232640"/>
        </p:xfrm>
        <a:graphic>
          <a:graphicData uri="http://schemas.openxmlformats.org/drawingml/2006/table">
            <a:tbl>
              <a:tblPr/>
              <a:tblGrid>
                <a:gridCol w="2286000"/>
                <a:gridCol w="1485720"/>
                <a:gridCol w="1485720"/>
                <a:gridCol w="1485720"/>
                <a:gridCol w="148572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Method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σ=0.005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σ=0.01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σ=0.05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σ=0.1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444444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2471a3"/>
                          </a:solidFill>
                          <a:uFillTx/>
                          <a:latin typeface="Calibri"/>
                          <a:ea typeface="Calibri"/>
                        </a:rPr>
                        <a:t>TV-ADMM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29.78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29.42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28.07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26.56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1e8449"/>
                          </a:solidFill>
                          <a:uFillTx/>
                          <a:latin typeface="Calibri"/>
                          <a:ea typeface="Calibri"/>
                        </a:rPr>
                        <a:t>NAF-Net ★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1e8449"/>
                          </a:solidFill>
                          <a:uFillTx/>
                          <a:latin typeface="Calibri"/>
                          <a:ea typeface="Calibri"/>
                        </a:rPr>
                        <a:t>29.46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1e8449"/>
                          </a:solidFill>
                          <a:uFillTx/>
                          <a:latin typeface="Calibri"/>
                          <a:ea typeface="Calibri"/>
                        </a:rPr>
                        <a:t>29.37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1e8449"/>
                          </a:solidFill>
                          <a:uFillTx/>
                          <a:latin typeface="Calibri"/>
                          <a:ea typeface="Calibri"/>
                        </a:rPr>
                        <a:t>28.07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1e8449"/>
                          </a:solidFill>
                          <a:uFillTx/>
                          <a:latin typeface="Calibri"/>
                          <a:ea typeface="Calibri"/>
                        </a:rPr>
                        <a:t>26.64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6c3483"/>
                          </a:solidFill>
                          <a:uFillTx/>
                          <a:latin typeface="Calibri"/>
                          <a:ea typeface="Calibri"/>
                        </a:rPr>
                        <a:t>DPS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25.56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24.63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24.63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24.80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6" name="Text 5"/>
          <p:cNvSpPr/>
          <p:nvPr/>
        </p:nvSpPr>
        <p:spPr>
          <a:xfrm>
            <a:off x="457200" y="24505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SSIM ↑ — higher is better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87" name="Table 1"/>
          <p:cNvGraphicFramePr/>
          <p:nvPr/>
        </p:nvGraphicFramePr>
        <p:xfrm>
          <a:off x="457200" y="2752200"/>
          <a:ext cx="8228520" cy="1232640"/>
        </p:xfrm>
        <a:graphic>
          <a:graphicData uri="http://schemas.openxmlformats.org/drawingml/2006/table">
            <a:tbl>
              <a:tblPr/>
              <a:tblGrid>
                <a:gridCol w="2286000"/>
                <a:gridCol w="1485720"/>
                <a:gridCol w="1485720"/>
                <a:gridCol w="1485720"/>
                <a:gridCol w="148572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Method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σ=0.005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σ=0.01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σ=0.05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4444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uFillTx/>
                          <a:latin typeface="Calibri"/>
                          <a:ea typeface="Calibri"/>
                        </a:rPr>
                        <a:t>σ=0.1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solidFill>
                      <a:srgbClr val="444444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2471a3"/>
                          </a:solidFill>
                          <a:uFillTx/>
                          <a:latin typeface="Calibri"/>
                          <a:ea typeface="Calibri"/>
                        </a:rPr>
                        <a:t>TV-ADMM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0.873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0.856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0.796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0.739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1e8449"/>
                          </a:solidFill>
                          <a:uFillTx/>
                          <a:latin typeface="Calibri"/>
                          <a:ea typeface="Calibri"/>
                        </a:rPr>
                        <a:t>NAF-Net ★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1e8449"/>
                          </a:solidFill>
                          <a:uFillTx/>
                          <a:latin typeface="Calibri"/>
                          <a:ea typeface="Calibri"/>
                        </a:rPr>
                        <a:t>0.867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1e8449"/>
                          </a:solidFill>
                          <a:uFillTx/>
                          <a:latin typeface="Calibri"/>
                          <a:ea typeface="Calibri"/>
                        </a:rPr>
                        <a:t>0.863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1e8449"/>
                          </a:solidFill>
                          <a:uFillTx/>
                          <a:latin typeface="Calibri"/>
                          <a:ea typeface="Calibri"/>
                        </a:rPr>
                        <a:t>0.797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1e8449"/>
                          </a:solidFill>
                          <a:uFillTx/>
                          <a:latin typeface="Calibri"/>
                          <a:ea typeface="Calibri"/>
                        </a:rPr>
                        <a:t>0.720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6c3483"/>
                          </a:solidFill>
                          <a:uFillTx/>
                          <a:latin typeface="Calibri"/>
                          <a:ea typeface="Calibri"/>
                        </a:rPr>
                        <a:t>DPS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0.790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0.810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0.737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trike="noStrike" u="none">
                          <a:solidFill>
                            <a:srgbClr val="000000"/>
                          </a:solidFill>
                          <a:uFillTx/>
                          <a:latin typeface="Calibri"/>
                          <a:ea typeface="Calibri"/>
                        </a:rPr>
                        <a:t>0.690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cccccc"/>
                      </a:solidFill>
                      <a:prstDash val="solid"/>
                    </a:lnL>
                    <a:lnR w="12240">
                      <a:solidFill>
                        <a:srgbClr val="cccccc"/>
                      </a:solidFill>
                      <a:prstDash val="solid"/>
                    </a:lnR>
                    <a:lnT w="12240">
                      <a:solidFill>
                        <a:srgbClr val="cccccc"/>
                      </a:solidFill>
                      <a:prstDash val="solid"/>
                    </a:lnT>
                    <a:lnB w="12240">
                      <a:solidFill>
                        <a:srgbClr val="ccccc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8" name="Shape 6"/>
          <p:cNvSpPr/>
          <p:nvPr/>
        </p:nvSpPr>
        <p:spPr>
          <a:xfrm>
            <a:off x="457200" y="3950280"/>
            <a:ext cx="8228880" cy="803880"/>
          </a:xfrm>
          <a:prstGeom prst="rect">
            <a:avLst/>
          </a:prstGeom>
          <a:solidFill>
            <a:srgbClr val="eef4ff"/>
          </a:solidFill>
          <a:ln w="19050">
            <a:solidFill>
              <a:srgbClr val="2471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Text 7"/>
          <p:cNvSpPr/>
          <p:nvPr/>
        </p:nvSpPr>
        <p:spPr>
          <a:xfrm>
            <a:off x="594360" y="3996000"/>
            <a:ext cx="79545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71a3"/>
                </a:solidFill>
                <a:uFillTx/>
                <a:latin typeface="Calibri"/>
                <a:ea typeface="Calibri"/>
              </a:rPr>
              <a:t>Key insight — PSNR–Perception Trade-off (Blau &amp; Michaeli 2018):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0" name="Text 8"/>
          <p:cNvSpPr/>
          <p:nvPr/>
        </p:nvSpPr>
        <p:spPr>
          <a:xfrm>
            <a:off x="594360" y="4251960"/>
            <a:ext cx="7954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TV-ADMM and NAF-Net maximize pixel accuracy (PSNR) → slight blur.  DPS maximizes perceptual realism → sharper detail but lower PSNR. Both behaviors are correct — they optimize different objectives. ★ = highest quantitative scores.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91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452440" y="4451400"/>
            <a:ext cx="680400" cy="68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0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b22222"/>
                </a:solidFill>
                <a:uFillTx/>
                <a:latin typeface="Calibri"/>
                <a:ea typeface="Calibri"/>
              </a:rPr>
              <a:t>Presentation of Numerical Results — PSNR vs σ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3" name="Shape 1"/>
          <p:cNvSpPr/>
          <p:nvPr/>
        </p:nvSpPr>
        <p:spPr>
          <a:xfrm>
            <a:off x="457200" y="840960"/>
            <a:ext cx="8229600" cy="360"/>
          </a:xfrm>
          <a:prstGeom prst="line">
            <a:avLst/>
          </a:prstGeom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194" name="Chart 0"/>
          <p:cNvGraphicFramePr/>
          <p:nvPr/>
        </p:nvGraphicFramePr>
        <p:xfrm>
          <a:off x="365760" y="868680"/>
          <a:ext cx="8411760" cy="3611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5" name="Text 4"/>
          <p:cNvSpPr/>
          <p:nvPr/>
        </p:nvSpPr>
        <p:spPr>
          <a:xfrm>
            <a:off x="457200" y="457200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2471a3"/>
                </a:solidFill>
                <a:uFillTx/>
                <a:latin typeface="Calibri"/>
                <a:ea typeface="Calibri"/>
              </a:rPr>
              <a:t>TV-ADMM</a:t>
            </a: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 and </a:t>
            </a:r>
            <a:r>
              <a:rPr b="1" lang="en-US" sz="1300" strike="noStrike" u="none">
                <a:solidFill>
                  <a:srgbClr val="1e8449"/>
                </a:solidFill>
                <a:uFillTx/>
                <a:latin typeface="Calibri"/>
                <a:ea typeface="Calibri"/>
              </a:rPr>
              <a:t>NAF-Net</a:t>
            </a: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 nearly overlap across all σ. </a:t>
            </a:r>
            <a:r>
              <a:rPr b="1" lang="en-US" sz="1300" strike="noStrike" u="none">
                <a:solidFill>
                  <a:srgbClr val="6c3483"/>
                </a:solidFill>
                <a:uFillTx/>
                <a:latin typeface="Calibri"/>
                <a:ea typeface="Calibri"/>
              </a:rPr>
              <a:t>DPS</a:t>
            </a: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 is ~4 dB lower by design — it optimizes perceptual quality, not MSE.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96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460000" y="4462920"/>
            <a:ext cx="680400" cy="68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/>
          <p:nvPr/>
        </p:nvSpPr>
        <p:spPr>
          <a:xfrm>
            <a:off x="540000" y="360000"/>
            <a:ext cx="8146080" cy="13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b22222"/>
                </a:solidFill>
                <a:uFillTx/>
                <a:latin typeface="Calibri"/>
                <a:ea typeface="Calibri"/>
              </a:rPr>
              <a:t>Presentation of Numerical Results — Visual Comparison (All noise level) 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Shape 1"/>
          <p:cNvSpPr/>
          <p:nvPr/>
        </p:nvSpPr>
        <p:spPr>
          <a:xfrm>
            <a:off x="457200" y="840960"/>
            <a:ext cx="8229600" cy="360"/>
          </a:xfrm>
          <a:prstGeom prst="line">
            <a:avLst/>
          </a:prstGeom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Shape 4"/>
          <p:cNvSpPr/>
          <p:nvPr/>
        </p:nvSpPr>
        <p:spPr>
          <a:xfrm>
            <a:off x="0" y="900000"/>
            <a:ext cx="1663560" cy="2736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137160" y="841320"/>
            <a:ext cx="1663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Original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Shape 6"/>
          <p:cNvSpPr/>
          <p:nvPr/>
        </p:nvSpPr>
        <p:spPr>
          <a:xfrm>
            <a:off x="1756080" y="900000"/>
            <a:ext cx="1663560" cy="2736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1892880" y="841320"/>
            <a:ext cx="1663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Degraded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3" name="Shape 8"/>
          <p:cNvSpPr/>
          <p:nvPr/>
        </p:nvSpPr>
        <p:spPr>
          <a:xfrm>
            <a:off x="3502080" y="900000"/>
            <a:ext cx="1663560" cy="2736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4" name="Text 9"/>
          <p:cNvSpPr/>
          <p:nvPr/>
        </p:nvSpPr>
        <p:spPr>
          <a:xfrm>
            <a:off x="3648600" y="841320"/>
            <a:ext cx="1663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TV-ADMM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Shape 10"/>
          <p:cNvSpPr/>
          <p:nvPr/>
        </p:nvSpPr>
        <p:spPr>
          <a:xfrm>
            <a:off x="5281560" y="900000"/>
            <a:ext cx="1663560" cy="2736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6" name="Text 11"/>
          <p:cNvSpPr/>
          <p:nvPr/>
        </p:nvSpPr>
        <p:spPr>
          <a:xfrm>
            <a:off x="5403960" y="841320"/>
            <a:ext cx="1663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NAF-Net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Shape 12"/>
          <p:cNvSpPr/>
          <p:nvPr/>
        </p:nvSpPr>
        <p:spPr>
          <a:xfrm>
            <a:off x="7020000" y="900000"/>
            <a:ext cx="1663560" cy="2736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8" name="Text 13"/>
          <p:cNvSpPr/>
          <p:nvPr/>
        </p:nvSpPr>
        <p:spPr>
          <a:xfrm>
            <a:off x="7067880" y="900000"/>
            <a:ext cx="1663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DPS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Text 17"/>
          <p:cNvSpPr/>
          <p:nvPr/>
        </p:nvSpPr>
        <p:spPr>
          <a:xfrm>
            <a:off x="1892880" y="1143000"/>
            <a:ext cx="166356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Text 19"/>
          <p:cNvSpPr/>
          <p:nvPr/>
        </p:nvSpPr>
        <p:spPr>
          <a:xfrm>
            <a:off x="3648600" y="1143000"/>
            <a:ext cx="166356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Insert image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from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results/images/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Text 21"/>
          <p:cNvSpPr/>
          <p:nvPr/>
        </p:nvSpPr>
        <p:spPr>
          <a:xfrm>
            <a:off x="5403960" y="1143000"/>
            <a:ext cx="166356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Insert image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from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results//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Text 24"/>
          <p:cNvSpPr/>
          <p:nvPr/>
        </p:nvSpPr>
        <p:spPr>
          <a:xfrm>
            <a:off x="0" y="1554480"/>
            <a:ext cx="109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Image 1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Text 26"/>
          <p:cNvSpPr/>
          <p:nvPr/>
        </p:nvSpPr>
        <p:spPr>
          <a:xfrm>
            <a:off x="137160" y="2404800"/>
            <a:ext cx="166356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Insert image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from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results/images/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Text 28"/>
          <p:cNvSpPr/>
          <p:nvPr/>
        </p:nvSpPr>
        <p:spPr>
          <a:xfrm>
            <a:off x="1892880" y="2404800"/>
            <a:ext cx="166356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Insert image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from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results/images/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5" name="Text 30"/>
          <p:cNvSpPr/>
          <p:nvPr/>
        </p:nvSpPr>
        <p:spPr>
          <a:xfrm>
            <a:off x="3648600" y="2404800"/>
            <a:ext cx="166356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6" name="Text 32"/>
          <p:cNvSpPr/>
          <p:nvPr/>
        </p:nvSpPr>
        <p:spPr>
          <a:xfrm>
            <a:off x="5403960" y="2404800"/>
            <a:ext cx="166356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Insert image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from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results/images/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Text 34"/>
          <p:cNvSpPr/>
          <p:nvPr/>
        </p:nvSpPr>
        <p:spPr>
          <a:xfrm>
            <a:off x="7159680" y="2404800"/>
            <a:ext cx="166356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Insert image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from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results/images/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Text 35"/>
          <p:cNvSpPr/>
          <p:nvPr/>
        </p:nvSpPr>
        <p:spPr>
          <a:xfrm>
            <a:off x="0" y="2816280"/>
            <a:ext cx="109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Image 2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Text 37"/>
          <p:cNvSpPr/>
          <p:nvPr/>
        </p:nvSpPr>
        <p:spPr>
          <a:xfrm>
            <a:off x="137160" y="3666600"/>
            <a:ext cx="166356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Insert image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from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results/images/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Text 39"/>
          <p:cNvSpPr/>
          <p:nvPr/>
        </p:nvSpPr>
        <p:spPr>
          <a:xfrm>
            <a:off x="1892880" y="3666600"/>
            <a:ext cx="166356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Insert image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from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results/images/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Text 41"/>
          <p:cNvSpPr/>
          <p:nvPr/>
        </p:nvSpPr>
        <p:spPr>
          <a:xfrm>
            <a:off x="3648600" y="3666600"/>
            <a:ext cx="1663560" cy="11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Insert image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from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results/images/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Text 46"/>
          <p:cNvSpPr/>
          <p:nvPr/>
        </p:nvSpPr>
        <p:spPr>
          <a:xfrm>
            <a:off x="0" y="4078080"/>
            <a:ext cx="109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Image 3</a:t>
            </a:r>
            <a:endParaRPr b="0" lang="en-US" sz="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3" name="" descr=""/>
          <p:cNvPicPr/>
          <p:nvPr/>
        </p:nvPicPr>
        <p:blipFill>
          <a:blip r:embed="rId1"/>
          <a:srcRect l="0" t="3831" r="0" b="0"/>
          <a:stretch/>
        </p:blipFill>
        <p:spPr>
          <a:xfrm>
            <a:off x="360" y="1260000"/>
            <a:ext cx="8639640" cy="380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460000" y="4500000"/>
            <a:ext cx="680400" cy="68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0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b22222"/>
                </a:solidFill>
                <a:uFillTx/>
                <a:latin typeface="Calibri"/>
                <a:ea typeface="Calibri"/>
              </a:rPr>
              <a:t>Conclusions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6" name="Shape 1"/>
          <p:cNvSpPr/>
          <p:nvPr/>
        </p:nvSpPr>
        <p:spPr>
          <a:xfrm>
            <a:off x="457200" y="840960"/>
            <a:ext cx="8229600" cy="360"/>
          </a:xfrm>
          <a:prstGeom prst="line">
            <a:avLst/>
          </a:prstGeom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7" name="Shape 4"/>
          <p:cNvSpPr/>
          <p:nvPr/>
        </p:nvSpPr>
        <p:spPr>
          <a:xfrm>
            <a:off x="365760" y="987480"/>
            <a:ext cx="474840" cy="6577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365760" y="987480"/>
            <a:ext cx="4748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1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887040" y="987480"/>
            <a:ext cx="1005120" cy="65772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887040" y="987480"/>
            <a:ext cx="10051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TV-ADMM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Shape 8"/>
          <p:cNvSpPr/>
          <p:nvPr/>
        </p:nvSpPr>
        <p:spPr>
          <a:xfrm>
            <a:off x="1938600" y="987480"/>
            <a:ext cx="6811560" cy="657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Text 9"/>
          <p:cNvSpPr/>
          <p:nvPr/>
        </p:nvSpPr>
        <p:spPr>
          <a:xfrm>
            <a:off x="2030040" y="1005840"/>
            <a:ext cx="66286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Achieves best PSNR at low noise (29.78 dB at σ=0.005). Training-free, physically interpretable. Piecewise-constant prior causes texture loss at high σ.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Shape 10"/>
          <p:cNvSpPr/>
          <p:nvPr/>
        </p:nvSpPr>
        <p:spPr>
          <a:xfrm>
            <a:off x="365760" y="1901880"/>
            <a:ext cx="474840" cy="6577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4" name="Text 11"/>
          <p:cNvSpPr/>
          <p:nvPr/>
        </p:nvSpPr>
        <p:spPr>
          <a:xfrm>
            <a:off x="365760" y="1901880"/>
            <a:ext cx="4748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2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Shape 12"/>
          <p:cNvSpPr/>
          <p:nvPr/>
        </p:nvSpPr>
        <p:spPr>
          <a:xfrm>
            <a:off x="887040" y="1901880"/>
            <a:ext cx="1005120" cy="6577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6" name="Text 13"/>
          <p:cNvSpPr/>
          <p:nvPr/>
        </p:nvSpPr>
        <p:spPr>
          <a:xfrm>
            <a:off x="887040" y="1901880"/>
            <a:ext cx="10051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NAF-Net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Shape 14"/>
          <p:cNvSpPr/>
          <p:nvPr/>
        </p:nvSpPr>
        <p:spPr>
          <a:xfrm>
            <a:off x="1938600" y="1901880"/>
            <a:ext cx="6811560" cy="657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Text 15"/>
          <p:cNvSpPr/>
          <p:nvPr/>
        </p:nvSpPr>
        <p:spPr>
          <a:xfrm>
            <a:off x="2030040" y="1920240"/>
            <a:ext cx="66286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Matches TV-ADMM quantitatively (29.46 dB) with sub-millisecond inference and superior visual quality. Noise conditioning enables a single model across all σ.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Shape 16"/>
          <p:cNvSpPr/>
          <p:nvPr/>
        </p:nvSpPr>
        <p:spPr>
          <a:xfrm>
            <a:off x="365760" y="2816280"/>
            <a:ext cx="474840" cy="6577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0" name="Text 17"/>
          <p:cNvSpPr/>
          <p:nvPr/>
        </p:nvSpPr>
        <p:spPr>
          <a:xfrm>
            <a:off x="365760" y="2816280"/>
            <a:ext cx="4748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3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1" name="Shape 18"/>
          <p:cNvSpPr/>
          <p:nvPr/>
        </p:nvSpPr>
        <p:spPr>
          <a:xfrm>
            <a:off x="887040" y="2816280"/>
            <a:ext cx="1005120" cy="6577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2" name="Text 19"/>
          <p:cNvSpPr/>
          <p:nvPr/>
        </p:nvSpPr>
        <p:spPr>
          <a:xfrm>
            <a:off x="887040" y="2816280"/>
            <a:ext cx="10051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DPS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Shape 20"/>
          <p:cNvSpPr/>
          <p:nvPr/>
        </p:nvSpPr>
        <p:spPr>
          <a:xfrm>
            <a:off x="1938600" y="2816280"/>
            <a:ext cx="6811560" cy="657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4" name="Text 21"/>
          <p:cNvSpPr/>
          <p:nvPr/>
        </p:nvSpPr>
        <p:spPr>
          <a:xfrm>
            <a:off x="2030040" y="2834640"/>
            <a:ext cx="66286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Lower PSNR (25.56 dB) but superior perceptual quality — sharper, more realistic textures. Zero-shot generalization. High compute cost requires GPU.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5" name="Shape 22"/>
          <p:cNvSpPr/>
          <p:nvPr/>
        </p:nvSpPr>
        <p:spPr>
          <a:xfrm>
            <a:off x="365760" y="3730680"/>
            <a:ext cx="474840" cy="6577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6" name="Text 23"/>
          <p:cNvSpPr/>
          <p:nvPr/>
        </p:nvSpPr>
        <p:spPr>
          <a:xfrm>
            <a:off x="365760" y="3730680"/>
            <a:ext cx="4748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★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7" name="Shape 24"/>
          <p:cNvSpPr/>
          <p:nvPr/>
        </p:nvSpPr>
        <p:spPr>
          <a:xfrm>
            <a:off x="887040" y="3730680"/>
            <a:ext cx="1005120" cy="65772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8" name="Text 25"/>
          <p:cNvSpPr/>
          <p:nvPr/>
        </p:nvSpPr>
        <p:spPr>
          <a:xfrm>
            <a:off x="887040" y="3730680"/>
            <a:ext cx="10051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Calibri"/>
                <a:ea typeface="Calibri"/>
              </a:rPr>
              <a:t>Key Lesson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Shape 26"/>
          <p:cNvSpPr/>
          <p:nvPr/>
        </p:nvSpPr>
        <p:spPr>
          <a:xfrm>
            <a:off x="1938600" y="3730680"/>
            <a:ext cx="6811560" cy="657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Text 27"/>
          <p:cNvSpPr/>
          <p:nvPr/>
        </p:nvSpPr>
        <p:spPr>
          <a:xfrm>
            <a:off x="2030040" y="3749040"/>
            <a:ext cx="66286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No single method dominates. PSNR ≠ perceptual quality (Blau &amp; Michaeli 2018). The optimal method depends on accuracy, compute, and whether distortion or perception matters most.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1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460000" y="4388760"/>
            <a:ext cx="680400" cy="68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457200" y="228600"/>
            <a:ext cx="82288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b22222"/>
                </a:solidFill>
                <a:uFillTx/>
                <a:latin typeface="Calibri"/>
                <a:ea typeface="Calibri"/>
              </a:rPr>
              <a:t>Bibliography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3" name="Shape 1"/>
          <p:cNvSpPr/>
          <p:nvPr/>
        </p:nvSpPr>
        <p:spPr>
          <a:xfrm>
            <a:off x="457200" y="840960"/>
            <a:ext cx="8229600" cy="360"/>
          </a:xfrm>
          <a:prstGeom prst="line">
            <a:avLst/>
          </a:prstGeom>
          <a:ln w="6350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Text 4"/>
          <p:cNvSpPr/>
          <p:nvPr/>
        </p:nvSpPr>
        <p:spPr>
          <a:xfrm>
            <a:off x="457200" y="987480"/>
            <a:ext cx="8228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[1]  Rudin, L., Osher, S., &amp; Fatemi, E. (1992). Nonlinear total variation based noise removal algorithms. Physica D, 60, 259–268.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Text 5"/>
          <p:cNvSpPr/>
          <p:nvPr/>
        </p:nvSpPr>
        <p:spPr>
          <a:xfrm>
            <a:off x="457200" y="1463040"/>
            <a:ext cx="8228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[2]  Boyd, S. et al. (2011). Distributed optimization and statistical learning via ADMM. Foundations and Trends in ML, 3(1), 1–122.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6" name="Text 6"/>
          <p:cNvSpPr/>
          <p:nvPr/>
        </p:nvSpPr>
        <p:spPr>
          <a:xfrm>
            <a:off x="457200" y="1938600"/>
            <a:ext cx="8228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[3]  Chen, L., Chu, X., Zhang, X., &amp; Sun, J. (2022). Simple Baselines for Image Restoration (NAF-Net). ECCV 2022.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7" name="Text 7"/>
          <p:cNvSpPr/>
          <p:nvPr/>
        </p:nvSpPr>
        <p:spPr>
          <a:xfrm>
            <a:off x="457200" y="2414160"/>
            <a:ext cx="8228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a1a1a"/>
                </a:solidFill>
                <a:uFillTx/>
                <a:latin typeface="Calibri"/>
                <a:ea typeface="Calibri"/>
              </a:rPr>
              <a:t>[4]  Chung, H. et al. (2022). Diffusion Posterior Sampling for General Noisy Inverse Problems. ICLR 2023.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8" name="Text 8"/>
          <p:cNvSpPr/>
          <p:nvPr/>
        </p:nvSpPr>
        <p:spPr>
          <a:xfrm>
            <a:off x="457200" y="2889360"/>
            <a:ext cx="8228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[5]  Blau, Y. &amp; Michaeli, T. (2018). The Perception-Distortion Tradeoff. CVPR 2018.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Text 9"/>
          <p:cNvSpPr/>
          <p:nvPr/>
        </p:nvSpPr>
        <p:spPr>
          <a:xfrm>
            <a:off x="457200" y="3364920"/>
            <a:ext cx="8228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[6]  Ho, J. et al. (2020). Denoising Diffusion Probabilistic Models. NeurIPS 2020.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0" name="Text 10"/>
          <p:cNvSpPr/>
          <p:nvPr/>
        </p:nvSpPr>
        <p:spPr>
          <a:xfrm>
            <a:off x="457200" y="3840480"/>
            <a:ext cx="8228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[7]  Karras, T. et al. (2019). A Style-Based Generator Architecture for GANs (FFHQ). CVPR 2019.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Text 11"/>
          <p:cNvSpPr/>
          <p:nvPr/>
        </p:nvSpPr>
        <p:spPr>
          <a:xfrm>
            <a:off x="457200" y="4316040"/>
            <a:ext cx="8228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55555"/>
                </a:solidFill>
                <a:uFillTx/>
                <a:latin typeface="Calibri"/>
                <a:ea typeface="Calibri"/>
              </a:rPr>
              <a:t>[8]  Dhariwal, P. &amp; Nichol, A. (2021). Diffusion Models Beat GANs on Image Synthesis. NeurIPS 2021.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Shape 12"/>
          <p:cNvSpPr/>
          <p:nvPr/>
        </p:nvSpPr>
        <p:spPr>
          <a:xfrm>
            <a:off x="457200" y="4772880"/>
            <a:ext cx="8229600" cy="360"/>
          </a:xfrm>
          <a:prstGeom prst="line">
            <a:avLst/>
          </a:prstGeom>
          <a:ln w="12700">
            <a:solidFill>
              <a:srgbClr val="b222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Text 13"/>
          <p:cNvSpPr/>
          <p:nvPr/>
        </p:nvSpPr>
        <p:spPr>
          <a:xfrm>
            <a:off x="457200" y="48189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b22222"/>
                </a:solidFill>
                <a:uFillTx/>
                <a:latin typeface="Calibri"/>
                <a:ea typeface="Calibri"/>
              </a:rPr>
              <a:t>GitHub: github.com/Giovanniprevitera01/computational-imaging-deblur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64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463240" y="4462920"/>
            <a:ext cx="680400" cy="68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8707</TotalTime>
  <Application>LibreOffice/24.8.6.2$Linux_X86_64 LibreOffice_project/480$Build-2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2026-06-02T10:43:24Z</dcterms:created>
  <dc:creator>PptxGenJS</dc:creator>
  <dc:description/>
  <dc:language>it-IT</dc:language>
  <cp:lastModifiedBy/>
  <dcterms:modified xsi:type="dcterms:W3CDTF">2026-06-19T21:15:56Z</dcterms:modified>
  <cp:revision>9</cp:revision>
  <dc:subject>PptxGenJS Presentation</dc:subject>
  <dc:title>Computational Imaging - Group U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14</vt:r8>
  </property>
  <property fmtid="{D5CDD505-2E9C-101B-9397-08002B2CF9AE}" pid="3" name="PresentationFormat">
    <vt:lpwstr>On-screen Show (16:9)</vt:lpwstr>
  </property>
  <property fmtid="{D5CDD505-2E9C-101B-9397-08002B2CF9AE}" pid="4" name="Slides">
    <vt:r8>14</vt:r8>
  </property>
</Properties>
</file>