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RHYfLlPBBTUAw1C2TuwN3Ghna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107245-98FB-45DA-BF0E-ED2870628115}">
  <a:tblStyle styleId="{22107245-98FB-45DA-BF0E-ED28706281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e27bda9a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ee27bda9a6_0_6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ee27bda9a6_0_6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27bda9a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ee27bda9a6_0_22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e27bda9a6_0_22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27bda9a6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ee27bda9a6_0_29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e27bda9a6_0_29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368"/>
            <a:ext cx="9141572" cy="5417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Description of the project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"/>
          <p:cNvSpPr/>
          <p:nvPr/>
        </p:nvSpPr>
        <p:spPr>
          <a:xfrm>
            <a:off x="8321040" y="4480560"/>
            <a:ext cx="639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960120"/>
            <a:ext cx="82288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Title:  Joint Image Deblurring and Denoising via TV-ADMM, NAF-Net, and DPS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719000"/>
            <a:ext cx="8228880" cy="148932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Deblur and Denoise on FFHQ 256×256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Forward model: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 = A(x) + n   where A = Gaussian blur (σ=2, kernel 9×9), n ~ N(0, σ²I)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levels n: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0.005 · 0.01 · 0.05 · 0.1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Methods required: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(1) Variational — TV regularization   (2) End-to-end — NAF-Net   (3) Generative — DPS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PSNR and SSIM on test set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Variational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4612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4612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035040" y="3794760"/>
            <a:ext cx="2468160" cy="776520"/>
          </a:xfrm>
          <a:prstGeom prst="roundRect">
            <a:avLst>
              <a:gd fmla="val 5882" name="adj"/>
            </a:avLst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035040" y="3794760"/>
            <a:ext cx="2468160" cy="776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Problem Formulation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457200" y="960120"/>
            <a:ext cx="8228880" cy="5936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960120"/>
            <a:ext cx="804600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y  =  A(x)  +  n          n ~ N(0, σ²I)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1627560"/>
            <a:ext cx="822888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∈ [0,1]³  — clean RGB image (unknown)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Gaussian blur operator   (σ_blur = 2, kernel 9×9)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additive Gaussian noise   n ∈ {0.005, 0.01, 0.05, 0.1}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recover x* from y — ill-posed inverse problem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576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65760" y="3017520"/>
            <a:ext cx="2742480" cy="34668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3884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min_x ½‖Ax−y‖² + λ·TV(x)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3884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Convex optimization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ADMM solver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24612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46120" y="3017520"/>
            <a:ext cx="2742480" cy="3466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33756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31920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f_θ: y → x*   (supervised)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31920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conditioned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126480" y="3017520"/>
            <a:ext cx="2742480" cy="16909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26480" y="3017520"/>
            <a:ext cx="2742480" cy="3466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217920" y="3017520"/>
            <a:ext cx="25596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199560" y="3401640"/>
            <a:ext cx="259632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p(x|y) ∝ p(y|x)·p(x)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199560" y="3858840"/>
            <a:ext cx="259632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Generative prior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Reverse diffusion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TV-ADMM (Variational)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4"/>
          <p:cNvSpPr/>
          <p:nvPr/>
        </p:nvSpPr>
        <p:spPr>
          <a:xfrm>
            <a:off x="457200" y="960120"/>
            <a:ext cx="8228880" cy="56628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960120"/>
            <a:ext cx="80460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x* = argmin_x   ½ ‖Ax − y‖²  +  λ · TV(x)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700000" y="1660320"/>
            <a:ext cx="82288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ADMM — 3 alternating steps per iteration: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14400" y="1965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05840" y="1965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x-update: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240280" y="1965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Solve  (AᵀA + ρ DᵀD) x = rhs   →  gradient descent steps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14400" y="2532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005840" y="2532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z-update: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240280" y="2532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Soft-thresholding  →  proximal operator of (λ/ρ)‖·‖₂,₁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3099960"/>
            <a:ext cx="7771680" cy="4748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5840" y="3099960"/>
            <a:ext cx="1188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u-update: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40280" y="3099960"/>
            <a:ext cx="640008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Dual ascent  →  u ← u + DᵀD − z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340000" y="3575160"/>
            <a:ext cx="73144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Hyperparameter λ — tuned on validation set (grid search, max PSNR):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" name="Google Shape;87;p4"/>
          <p:cNvGraphicFramePr/>
          <p:nvPr/>
        </p:nvGraphicFramePr>
        <p:xfrm>
          <a:off x="2333880" y="383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{22107245-98FB-45DA-BF0E-ED2870628115}</a:tableStyleId>
              </a:tblPr>
              <a:tblGrid>
                <a:gridCol w="1188725"/>
                <a:gridCol w="1188725"/>
                <a:gridCol w="1325875"/>
                <a:gridCol w="1325875"/>
              </a:tblGrid>
              <a:tr h="277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λ*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PSNR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SSIM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71A3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29.78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0.873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29.42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26.56 dB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4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580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e27bda9a6_0_6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(TV-ADMM)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3ee27bda9a6_0_6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ee27bda9a6_0_6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ee27bda9a6_0_6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ee27bda9a6_0_6" title="Schermata da 2026-06-20 23-05-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648" y="922725"/>
            <a:ext cx="1615750" cy="40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ee27bda9a6_0_6" title="Schermata da 2026-06-20 23-23-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3250" y="941850"/>
            <a:ext cx="1544419" cy="40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ee27bda9a6_0_6" title="Schermata da 2026-06-20 23-05-0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2900" y="936657"/>
            <a:ext cx="1615750" cy="406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ee27bda9a6_0_6"/>
          <p:cNvSpPr/>
          <p:nvPr/>
        </p:nvSpPr>
        <p:spPr>
          <a:xfrm>
            <a:off x="850300" y="3318900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2" name="Google Shape;102;g3ee27bda9a6_0_6"/>
          <p:cNvSpPr/>
          <p:nvPr/>
        </p:nvSpPr>
        <p:spPr>
          <a:xfrm>
            <a:off x="850300" y="2425875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e27bda9a6_0_6"/>
          <p:cNvSpPr/>
          <p:nvPr/>
        </p:nvSpPr>
        <p:spPr>
          <a:xfrm>
            <a:off x="829750" y="4260725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ee27bda9a6_0_6"/>
          <p:cNvSpPr/>
          <p:nvPr/>
        </p:nvSpPr>
        <p:spPr>
          <a:xfrm>
            <a:off x="850300" y="1532850"/>
            <a:ext cx="10377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e27bda9a6_0_6"/>
          <p:cNvSpPr txBox="1"/>
          <p:nvPr/>
        </p:nvSpPr>
        <p:spPr>
          <a:xfrm>
            <a:off x="815050" y="998800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NAF-Net (End-to-End)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/>
          <p:nvPr/>
        </p:nvSpPr>
        <p:spPr>
          <a:xfrm>
            <a:off x="2160000" y="967680"/>
            <a:ext cx="82288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Architecture: U-Net + Simple Gate (replaces all GELU/ReLU)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[RGB|σ] 4ch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stages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 Block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 stages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3ch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5544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1546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48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55080" y="1536120"/>
            <a:ext cx="273600" cy="1274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075" lIns="90000" spcFirstLastPara="1" rIns="90000" wrap="square" tIns="19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828800" y="1828800"/>
            <a:ext cx="45712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← Skip connections 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2148840"/>
            <a:ext cx="3931200" cy="1690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2148840"/>
            <a:ext cx="3931200" cy="3193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47400" y="2148840"/>
            <a:ext cx="378504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 Block — Simple Gate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47400" y="2496240"/>
            <a:ext cx="378504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LayerNorm + depthwise conv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SimpleGate: SG(x) = x₁ · x₂   (no GELU)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Channel attention (sigmoid)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 Feed-forward + learnable β, γ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389120" y="2148840"/>
            <a:ext cx="4296960" cy="1690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389120" y="2148840"/>
            <a:ext cx="4296960" cy="3193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462200" y="2148840"/>
            <a:ext cx="415080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Setup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462200" y="2496240"/>
            <a:ext cx="415080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Optimizer:  Adam, lr=1e-3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Schedule:  Cosine Annealing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Loss:  L1 + 0.1×(1−SSIM)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Epochs / Batch:  30 / 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Augmentation:  H/V flip p=0.5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conditioning:  4-channel input [RGB|σ]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3931920"/>
            <a:ext cx="82288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★  Why NAF-Net? Designed for joint deblur+denoise. Outperforms UNet on GoPro &amp; SIDD. ViT needs 10× more data.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e27bda9a6_0_22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(NAF-Net)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ee27bda9a6_0_22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3ee27bda9a6_0_22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ee27bda9a6_0_22"/>
          <p:cNvPicPr preferRelativeResize="0"/>
          <p:nvPr/>
        </p:nvPicPr>
        <p:blipFill rotWithShape="1">
          <a:blip r:embed="rId3">
            <a:alphaModFix/>
          </a:blip>
          <a:srcRect b="0" l="0" r="4907" t="1156"/>
          <a:stretch/>
        </p:blipFill>
        <p:spPr>
          <a:xfrm>
            <a:off x="5339875" y="945375"/>
            <a:ext cx="1566900" cy="39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ee27bda9a6_0_22" title="Schermata da 2026-06-20 23-05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575" y="921998"/>
            <a:ext cx="1607725" cy="404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ee27bda9a6_0_22" title="Schermata da 2026-06-20 23-05-16.png"/>
          <p:cNvPicPr preferRelativeResize="0"/>
          <p:nvPr/>
        </p:nvPicPr>
        <p:blipFill rotWithShape="1">
          <a:blip r:embed="rId5">
            <a:alphaModFix/>
          </a:blip>
          <a:srcRect b="0" l="0" r="0" t="-1143"/>
          <a:stretch/>
        </p:blipFill>
        <p:spPr>
          <a:xfrm>
            <a:off x="3633198" y="859901"/>
            <a:ext cx="1647775" cy="414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ee27bda9a6_0_22"/>
          <p:cNvSpPr/>
          <p:nvPr/>
        </p:nvSpPr>
        <p:spPr>
          <a:xfrm>
            <a:off x="828575" y="148590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e27bda9a6_0_22"/>
          <p:cNvSpPr/>
          <p:nvPr/>
        </p:nvSpPr>
        <p:spPr>
          <a:xfrm>
            <a:off x="808600" y="235615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e27bda9a6_0_22"/>
          <p:cNvSpPr/>
          <p:nvPr/>
        </p:nvSpPr>
        <p:spPr>
          <a:xfrm>
            <a:off x="828576" y="4223050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e27bda9a6_0_22"/>
          <p:cNvSpPr/>
          <p:nvPr/>
        </p:nvSpPr>
        <p:spPr>
          <a:xfrm>
            <a:off x="808601" y="3275175"/>
            <a:ext cx="10791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ee27bda9a6_0_22" title="logo.png"/>
          <p:cNvPicPr preferRelativeResize="0"/>
          <p:nvPr/>
        </p:nvPicPr>
        <p:blipFill rotWithShape="1">
          <a:blip r:embed="rId6">
            <a:alphaModFix/>
          </a:blip>
          <a:srcRect b="0" l="13012" r="13012" t="0"/>
          <a:stretch/>
        </p:blipFill>
        <p:spPr>
          <a:xfrm>
            <a:off x="8321051" y="4334370"/>
            <a:ext cx="785475" cy="78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ee27bda9a6_0_22"/>
          <p:cNvSpPr txBox="1"/>
          <p:nvPr/>
        </p:nvSpPr>
        <p:spPr>
          <a:xfrm>
            <a:off x="823100" y="943963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Methodology — DPS (Generative)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457200" y="960120"/>
            <a:ext cx="8228880" cy="54792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B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960120"/>
            <a:ext cx="8046000" cy="547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p(x | y)  ∝  p(y | x) · p(x)  =  N(y ; A(x), σ²I) · p_diffusion(x)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1572840"/>
            <a:ext cx="82288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DPS Reverse Diffusion Loop  (Chung et al., ICLR 2023):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x̂₀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691640" y="192024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783080" y="192024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x̂₀(xₜ,t) = (xₜ − √(1−αₜ)·εΘ(xₜ,t)) / √αₜ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246888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2468880"/>
            <a:ext cx="1188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691640" y="246888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783080" y="246888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gₜ = ∇_{xₜ} (1/2σ²) ‖K·x̂₀(xₜ,t) − y‖²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017520"/>
            <a:ext cx="1188000" cy="45648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" y="3008333"/>
            <a:ext cx="11880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691640" y="3017520"/>
            <a:ext cx="6994440" cy="4564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783080" y="3017520"/>
            <a:ext cx="681156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3A6A"/>
                </a:solidFill>
                <a:latin typeface="Courier New"/>
                <a:ea typeface="Courier New"/>
                <a:cs typeface="Courier New"/>
                <a:sym typeface="Courier New"/>
              </a:rPr>
              <a:t>xₜ ≈ R_Θ(xₜ, t, s) − η·gₜ/‖gₜ‖   (guided DDIM step)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6"/>
          <p:cNvGraphicFramePr/>
          <p:nvPr/>
        </p:nvGraphicFramePr>
        <p:xfrm>
          <a:off x="457200" y="35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{22107245-98FB-45DA-BF0E-ED2870628115}</a:tableStyleId>
              </a:tblPr>
              <a:tblGrid>
                <a:gridCol w="2560325"/>
                <a:gridCol w="2560325"/>
                <a:gridCol w="3108950"/>
              </a:tblGrid>
              <a:tr h="23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b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3483"/>
                    </a:solidFill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Pre-trained model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google/ddpm-celebahq-256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 — face domain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steps (DDIM)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Quality/speed trade-off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ζ (guidance)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 across all n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Post-processing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Gaussian blend α=0.10–0.15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n ≥ 0.05 — reduce artefacts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Colab T4 GPU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~60 sec/image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9" name="Google Shape;179;p6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1776" y="437077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27bda9a6_0_29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Visual Comparison (DPS)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ee27bda9a6_0_29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ee27bda9a6_0_29"/>
          <p:cNvSpPr/>
          <p:nvPr/>
        </p:nvSpPr>
        <p:spPr>
          <a:xfrm>
            <a:off x="8321040" y="4480560"/>
            <a:ext cx="639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ee27bda9a6_0_29" title="Schermata da 2026-06-20 22-54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025" y="931675"/>
            <a:ext cx="1553000" cy="41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ee27bda9a6_0_29"/>
          <p:cNvSpPr/>
          <p:nvPr/>
        </p:nvSpPr>
        <p:spPr>
          <a:xfrm>
            <a:off x="887040" y="2816280"/>
            <a:ext cx="100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e27bda9a6_0_29"/>
          <p:cNvSpPr/>
          <p:nvPr/>
        </p:nvSpPr>
        <p:spPr>
          <a:xfrm>
            <a:off x="531575" y="154964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e27bda9a6_0_29"/>
          <p:cNvSpPr/>
          <p:nvPr/>
        </p:nvSpPr>
        <p:spPr>
          <a:xfrm>
            <a:off x="531575" y="24164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n=0.005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e27bda9a6_0_29"/>
          <p:cNvSpPr/>
          <p:nvPr/>
        </p:nvSpPr>
        <p:spPr>
          <a:xfrm>
            <a:off x="531575" y="33501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n=0.01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e27bda9a6_0_29"/>
          <p:cNvSpPr/>
          <p:nvPr/>
        </p:nvSpPr>
        <p:spPr>
          <a:xfrm>
            <a:off x="531575" y="4283895"/>
            <a:ext cx="1188000" cy="456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n=0.1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g3ee27bda9a6_0_29" title="Schermata da 2026-06-20 23-05-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9875" y="896825"/>
            <a:ext cx="1687050" cy="41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ee27bda9a6_0_29" title="Schermata da 2026-06-20 23-05-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8685" y="896825"/>
            <a:ext cx="1662101" cy="41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ee27bda9a6_0_29" title="logo.png"/>
          <p:cNvPicPr preferRelativeResize="0"/>
          <p:nvPr/>
        </p:nvPicPr>
        <p:blipFill rotWithShape="1">
          <a:blip r:embed="rId6">
            <a:alphaModFix/>
          </a:blip>
          <a:srcRect b="0" l="13012" r="13012" t="0"/>
          <a:stretch/>
        </p:blipFill>
        <p:spPr>
          <a:xfrm>
            <a:off x="8321051" y="4334375"/>
            <a:ext cx="785475" cy="78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e27bda9a6_0_29"/>
          <p:cNvSpPr txBox="1"/>
          <p:nvPr/>
        </p:nvSpPr>
        <p:spPr>
          <a:xfrm>
            <a:off x="611375" y="1007188"/>
            <a:ext cx="1108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Level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Introduce the Experiments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>
            <a:off x="274320" y="960120"/>
            <a:ext cx="3931200" cy="1828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74320" y="960120"/>
            <a:ext cx="3931200" cy="3193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47400" y="960120"/>
            <a:ext cx="378504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FFHQ 256×256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47400" y="1307520"/>
            <a:ext cx="378504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70,000 high-quality face images (Karras et al. 2019)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2,000 selected with seed=42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Split: 70% train / 15% val / 15% test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Normalization: [0,1] float32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100 test images per σ (TV/NAF) · 5 images (DPS)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389120" y="960120"/>
            <a:ext cx="4296960" cy="1828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89120" y="960120"/>
            <a:ext cx="4296960" cy="3193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462200" y="960120"/>
            <a:ext cx="415080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Degradation Pipeline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462200" y="1307520"/>
            <a:ext cx="41508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y = A(x) + n   (identical for all methods)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 = Gaussian blur: σ=2, kernel 9×9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 ~ N(0, σ²I)  with fixed random seed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Pre-generated and saved to disk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 ∈ {0.005, 0.01, 0.05, 0.1}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74320" y="2853000"/>
            <a:ext cx="39312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Gaussian PSF (σ=2, 9×9)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0040" y="3154680"/>
            <a:ext cx="474840" cy="346680"/>
          </a:xfrm>
          <a:prstGeom prst="rect">
            <a:avLst/>
          </a:prstGeom>
          <a:solidFill>
            <a:srgbClr val="F2F2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22960" y="315468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325880" y="315468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828800" y="315468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331720" y="315468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834640" y="315468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337560" y="3154680"/>
            <a:ext cx="474840" cy="346680"/>
          </a:xfrm>
          <a:prstGeom prst="rect">
            <a:avLst/>
          </a:prstGeom>
          <a:solidFill>
            <a:srgbClr val="F2F2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20040" y="353880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2960" y="353880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325880" y="353880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828800" y="3538800"/>
            <a:ext cx="474840" cy="346680"/>
          </a:xfrm>
          <a:prstGeom prst="rect">
            <a:avLst/>
          </a:prstGeom>
          <a:solidFill>
            <a:srgbClr val="808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331720" y="353880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834640" y="3538800"/>
            <a:ext cx="474840" cy="346680"/>
          </a:xfrm>
          <a:prstGeom prst="rect">
            <a:avLst/>
          </a:prstGeom>
          <a:solidFill>
            <a:srgbClr val="B3B3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337560" y="3538800"/>
            <a:ext cx="474840" cy="346680"/>
          </a:xfrm>
          <a:prstGeom prst="rect">
            <a:avLst/>
          </a:prstGeom>
          <a:solidFill>
            <a:srgbClr val="D9D9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20040" y="392292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22960" y="392292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325880" y="3922920"/>
            <a:ext cx="474840" cy="346680"/>
          </a:xfrm>
          <a:prstGeom prst="rect">
            <a:avLst/>
          </a:prstGeom>
          <a:solidFill>
            <a:srgbClr val="606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828800" y="3922920"/>
            <a:ext cx="474840" cy="346680"/>
          </a:xfrm>
          <a:prstGeom prst="rect">
            <a:avLst/>
          </a:prstGeom>
          <a:solidFill>
            <a:srgbClr val="4C4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331720" y="3922920"/>
            <a:ext cx="474840" cy="346680"/>
          </a:xfrm>
          <a:prstGeom prst="rect">
            <a:avLst/>
          </a:prstGeom>
          <a:solidFill>
            <a:srgbClr val="6060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834640" y="3922920"/>
            <a:ext cx="474840" cy="346680"/>
          </a:xfrm>
          <a:prstGeom prst="rect">
            <a:avLst/>
          </a:prstGeom>
          <a:solidFill>
            <a:srgbClr val="8C8C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337560" y="3922920"/>
            <a:ext cx="474840" cy="346680"/>
          </a:xfrm>
          <a:prstGeom prst="rect">
            <a:avLst/>
          </a:prstGeom>
          <a:solidFill>
            <a:srgbClr val="BFBFFF"/>
          </a:solidFill>
          <a:ln cap="flat" cmpd="sng" w="9525">
            <a:solidFill>
              <a:srgbClr val="DDD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4320" y="4316040"/>
            <a:ext cx="3931200" cy="20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← peak at center →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389120" y="2853000"/>
            <a:ext cx="42969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Noise levels 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38912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389108" y="3191388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0.005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38912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Very low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4068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440693" y="3209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4068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49224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D35400"/>
          </a:solidFill>
          <a:ln cap="flat" cmpd="sng" w="12700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492240" y="3200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49224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543800" y="3200400"/>
            <a:ext cx="959400" cy="502200"/>
          </a:xfrm>
          <a:prstGeom prst="roundRect">
            <a:avLst>
              <a:gd fmla="val 10909" name="adj"/>
            </a:avLst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543800" y="3200400"/>
            <a:ext cx="959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543800" y="3730680"/>
            <a:ext cx="95940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389120" y="4041720"/>
            <a:ext cx="4296960" cy="502200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480560" y="4078080"/>
            <a:ext cx="411408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⚠  All methods use identical pre-saved degraded images — guaranteeing a perfectly fair comparison.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7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281526" y="4316050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PSNR &amp; SSIM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PSNR (dB) ↑ — higher is better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8"/>
          <p:cNvGraphicFramePr/>
          <p:nvPr/>
        </p:nvGraphicFramePr>
        <p:xfrm>
          <a:off x="457200" y="126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{22107245-98FB-45DA-BF0E-ED2870628115}</a:tableStyleId>
              </a:tblPr>
              <a:tblGrid>
                <a:gridCol w="2286000"/>
                <a:gridCol w="1485725"/>
                <a:gridCol w="1485725"/>
                <a:gridCol w="1485725"/>
                <a:gridCol w="1485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TV-ADMM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29.78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29.42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26.56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NAF-Net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29.37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26.64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6C348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DPS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25.56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24.80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8"/>
          <p:cNvSpPr/>
          <p:nvPr/>
        </p:nvSpPr>
        <p:spPr>
          <a:xfrm>
            <a:off x="457200" y="24505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SSIM ↑ — higher is better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" name="Google Shape;262;p8"/>
          <p:cNvGraphicFramePr/>
          <p:nvPr/>
        </p:nvGraphicFramePr>
        <p:xfrm>
          <a:off x="457200" y="27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{22107245-98FB-45DA-BF0E-ED2870628115}</a:tableStyleId>
              </a:tblPr>
              <a:tblGrid>
                <a:gridCol w="2286000"/>
                <a:gridCol w="1485725"/>
                <a:gridCol w="1485725"/>
                <a:gridCol w="1485725"/>
                <a:gridCol w="1485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n=0.05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n=0.1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444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471A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TV-ADMM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0.873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75B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</a:t>
                      </a:r>
                      <a:endParaRPr b="1" sz="1400" u="none" cap="none" strike="noStrike">
                        <a:solidFill>
                          <a:srgbClr val="2E75B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NAF-Net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0.863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6C348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DPS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0.737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0.690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8"/>
          <p:cNvSpPr/>
          <p:nvPr/>
        </p:nvSpPr>
        <p:spPr>
          <a:xfrm>
            <a:off x="457200" y="3950280"/>
            <a:ext cx="8228880" cy="80388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94360" y="3996000"/>
            <a:ext cx="7954560" cy="255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Key insight — PSNR–Perception Trade-off (Blau &amp; Michaeli 2018):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94360" y="4251960"/>
            <a:ext cx="795456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TV-ADMM and NAF-Net maximize pixel accuracy (PSNR) → slight blur.  DPS maximizes perceptual realism → sharper detail but lower PSNR. Both behaviors are correct — they optimize different objectives.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8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293176" y="4333325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457200" y="228600"/>
            <a:ext cx="8229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PSNR vs 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9"/>
          <p:cNvCxnSpPr/>
          <p:nvPr/>
        </p:nvCxnSpPr>
        <p:spPr>
          <a:xfrm>
            <a:off x="457200" y="840960"/>
            <a:ext cx="8229600" cy="30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9"/>
          <p:cNvSpPr/>
          <p:nvPr/>
        </p:nvSpPr>
        <p:spPr>
          <a:xfrm>
            <a:off x="457200" y="4572000"/>
            <a:ext cx="8229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3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nearly overlap across all σ. </a:t>
            </a:r>
            <a:r>
              <a:rPr b="1" i="0" lang="en-US" sz="130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is ~4 dB lower by design — it optimizes perceptual quality, not MSE.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9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0151" y="4338925"/>
            <a:ext cx="785475" cy="78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93660"/>
            <a:ext cx="7969819" cy="342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540000" y="360000"/>
            <a:ext cx="8146080" cy="13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Presentation of Numerical Results — Visual Comparison (All noise level)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0" y="900000"/>
            <a:ext cx="1663560" cy="2736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3716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756080" y="900000"/>
            <a:ext cx="1663560" cy="27360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89288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Degraded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502080" y="900000"/>
            <a:ext cx="1663560" cy="2736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64860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281560" y="900000"/>
            <a:ext cx="1663560" cy="2736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403960" y="84132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020000" y="900000"/>
            <a:ext cx="1663560" cy="2736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067880" y="900000"/>
            <a:ext cx="16635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89288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64860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03960" y="11430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0" y="15544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3716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89288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64860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0396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159680" y="24048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0" y="28162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3716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89288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648600" y="3666600"/>
            <a:ext cx="1663560" cy="116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Insert image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results/images/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0" y="4078080"/>
            <a:ext cx="1090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 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0"/>
          <p:cNvPicPr preferRelativeResize="0"/>
          <p:nvPr/>
        </p:nvPicPr>
        <p:blipFill rotWithShape="1">
          <a:blip r:embed="rId3">
            <a:alphaModFix/>
          </a:blip>
          <a:srcRect b="0" l="0" r="0" t="3831"/>
          <a:stretch/>
        </p:blipFill>
        <p:spPr>
          <a:xfrm>
            <a:off x="360" y="1260000"/>
            <a:ext cx="8639640" cy="380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 title="logo.png"/>
          <p:cNvPicPr preferRelativeResize="0"/>
          <p:nvPr/>
        </p:nvPicPr>
        <p:blipFill rotWithShape="1">
          <a:blip r:embed="rId4">
            <a:alphaModFix/>
          </a:blip>
          <a:srcRect b="0" l="13012" r="13012" t="0"/>
          <a:stretch/>
        </p:blipFill>
        <p:spPr>
          <a:xfrm>
            <a:off x="8326451" y="4277213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1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1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TV-ADMM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938600" y="9874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030040" y="10058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Achieves best PSNR at low noise (29.78 dB at n=0.005). Training-free, physically interpretable. Piecewise-constant prior causes texture loss at high 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NAF-Net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938600" y="19018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030040" y="19202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Matches TV-ADMM quantitatively (29.46 dB) with sub-millisecond inference and superior visual quality. Noise conditioning enables a single model across all 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DPS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938600" y="28162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030040" y="28346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PSNR (25.56 dB) but superior perceptual quality — sharper, more realistic textures. Zero-shot generalization. High compute cost requires GPU.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solidFill>
            <a:srgbClr val="B22222"/>
          </a:solidFill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Lesson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938600" y="3730680"/>
            <a:ext cx="6811560" cy="6577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2030040" y="3749040"/>
            <a:ext cx="662868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single method dominates. PSNR ≠ perceptual quality (Blau &amp; Michaeli 2018). The optimal method depends on accuracy, compute, and whether distortion or perception matters most.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1" title="logo.png"/>
          <p:cNvPicPr preferRelativeResize="0"/>
          <p:nvPr/>
        </p:nvPicPr>
        <p:blipFill rotWithShape="1">
          <a:blip r:embed="rId3">
            <a:alphaModFix/>
          </a:blip>
          <a:srcRect b="0" l="13012" r="13012" t="0"/>
          <a:stretch/>
        </p:blipFill>
        <p:spPr>
          <a:xfrm>
            <a:off x="8300126" y="4358038"/>
            <a:ext cx="785475" cy="78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Bibliography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>
            <a:off x="457200" y="840960"/>
            <a:ext cx="8229600" cy="36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2"/>
          <p:cNvSpPr/>
          <p:nvPr/>
        </p:nvSpPr>
        <p:spPr>
          <a:xfrm>
            <a:off x="457200" y="98748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[1]  Rudin, L., Osher, S., &amp; Fatemi, E. (1992). Nonlinear total variation based noise removal algorithms. Physica D, 60, 259–268.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146304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[2]  Boyd, S. et al. (2011). Distributed optimization and statistical learning via ADMM. Foundations and Trends in ML, 3(1), 1–122.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57200" y="193860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[3]  Chen, L., Chu, X., Zhang, X., &amp; Sun, J. (2022). Simple Baselines for Image Restoration (NAF-Net). ECCV 2022.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57200" y="241416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[4]  Chung, H. et al. (2022). Diffusion Posterior Sampling for General Noisy Inverse Problems. ICLR 2023.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288936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[5]  Blau, Y. &amp; Michaeli, T. (2018). The Perception-Distortion Tradeoff. CVPR 2018.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336492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[6]  Ho, J. et al. (2020). Denoising Diffusion Probabilistic Models. NeurIPS 2020.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384048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[7]  Karras, T. et al. (2019). A Style-Based Generator Architecture for GANs (FFHQ). CVPR 2019.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57200" y="4316040"/>
            <a:ext cx="8228880" cy="438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[8]  Dhariwal, P. &amp; Nichol, A. (2021). Diffusion Models Beat GANs on Image Synthesis. NeurIPS 2021.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2"/>
          <p:cNvCxnSpPr/>
          <p:nvPr/>
        </p:nvCxnSpPr>
        <p:spPr>
          <a:xfrm>
            <a:off x="457200" y="4772880"/>
            <a:ext cx="8229600" cy="360"/>
          </a:xfrm>
          <a:prstGeom prst="straightConnector1">
            <a:avLst/>
          </a:prstGeom>
          <a:noFill/>
          <a:ln cap="flat" cmpd="sng" w="12700">
            <a:solidFill>
              <a:srgbClr val="B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2"/>
          <p:cNvSpPr/>
          <p:nvPr/>
        </p:nvSpPr>
        <p:spPr>
          <a:xfrm>
            <a:off x="457200" y="481896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22222"/>
                </a:solidFill>
                <a:latin typeface="Calibri"/>
                <a:ea typeface="Calibri"/>
                <a:cs typeface="Calibri"/>
                <a:sym typeface="Calibri"/>
              </a:rPr>
              <a:t>GitHub: github.com/Giovanniprevitera01/computational-imaging-deblur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463240" y="4462920"/>
            <a:ext cx="680400" cy="68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2026-06-02T10:43:24Z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14.0</vt:r8>
  </property>
  <property fmtid="{D5CDD505-2E9C-101B-9397-08002B2CF9AE}" pid="3" name="PresentationFormat">
    <vt:lpwstr>On-screen Show (16:9)</vt:lpwstr>
  </property>
  <property fmtid="{D5CDD505-2E9C-101B-9397-08002B2CF9AE}" pid="4" name="Slides">
    <vt:r8>14.0</vt:r8>
  </property>
</Properties>
</file>